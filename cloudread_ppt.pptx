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48" r:id="rId2"/>
    <p:sldId id="257" r:id="rId3"/>
    <p:sldId id="258" r:id="rId4"/>
    <p:sldId id="283" r:id="rId5"/>
    <p:sldId id="390" r:id="rId6"/>
    <p:sldId id="350" r:id="rId7"/>
    <p:sldId id="355" r:id="rId8"/>
    <p:sldId id="422" r:id="rId9"/>
    <p:sldId id="402" r:id="rId10"/>
    <p:sldId id="421" r:id="rId11"/>
    <p:sldId id="408" r:id="rId12"/>
    <p:sldId id="380" r:id="rId13"/>
    <p:sldId id="322" r:id="rId14"/>
    <p:sldId id="403" r:id="rId15"/>
    <p:sldId id="32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A303"/>
    <a:srgbClr val="899701"/>
    <a:srgbClr val="FFE4EB"/>
    <a:srgbClr val="FBFFE4"/>
    <a:srgbClr val="DFF4FC"/>
    <a:srgbClr val="C14D29"/>
    <a:srgbClr val="772F19"/>
    <a:srgbClr val="8F096C"/>
    <a:srgbClr val="980098"/>
    <a:srgbClr val="BA00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99" autoAdjust="0"/>
    <p:restoredTop sz="95394" autoAdjust="0"/>
  </p:normalViewPr>
  <p:slideViewPr>
    <p:cSldViewPr>
      <p:cViewPr>
        <p:scale>
          <a:sx n="90" d="100"/>
          <a:sy n="90" d="100"/>
        </p:scale>
        <p:origin x="-1138" y="-1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B20E42A-D9FC-47EE-8900-478CBDC629FC}" type="doc">
      <dgm:prSet loTypeId="urn:microsoft.com/office/officeart/2005/8/layout/list1#1" loCatId="list" qsTypeId="urn:microsoft.com/office/officeart/2005/8/quickstyle/simple1#1" qsCatId="simple" csTypeId="urn:microsoft.com/office/officeart/2005/8/colors/accent1_2#1" csCatId="accent1" phldr="1"/>
      <dgm:spPr/>
      <dgm:t>
        <a:bodyPr/>
        <a:lstStyle/>
        <a:p>
          <a:endParaRPr lang="en-US"/>
        </a:p>
      </dgm:t>
    </dgm:pt>
    <dgm:pt modelId="{BB9CA28A-5FA8-4595-B0CA-BE8246B0F16C}" type="pres">
      <dgm:prSet presAssocID="{3B20E42A-D9FC-47EE-8900-478CBDC629FC}" presName="linear" presStyleCnt="0">
        <dgm:presLayoutVars>
          <dgm:dir/>
          <dgm:animLvl val="lvl"/>
          <dgm:resizeHandles val="exact"/>
        </dgm:presLayoutVars>
      </dgm:prSet>
      <dgm:spPr/>
      <dgm:t>
        <a:bodyPr/>
        <a:lstStyle/>
        <a:p>
          <a:endParaRPr lang="en-US"/>
        </a:p>
      </dgm:t>
    </dgm:pt>
  </dgm:ptLst>
  <dgm:cxnLst>
    <dgm:cxn modelId="{8CAF70A6-4EAC-4A5E-9CDF-9950B16B4FA7}" type="presOf" srcId="{3B20E42A-D9FC-47EE-8900-478CBDC629FC}" destId="{BB9CA28A-5FA8-4595-B0CA-BE8246B0F16C}" srcOrd="0"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CBFEA6C-DAAD-4E22-B568-BCDA032DB0FB}" type="datetimeFigureOut">
              <a:rPr lang="en-US"/>
              <a:t>9/2/2026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BD31CF1-2C47-418A-ACF2-148026AABEBE}" type="slidenum">
              <a:rPr lang="en-US"/>
              <a:t>‹#›</a:t>
            </a:fld>
            <a:endParaRPr lang="en-US"/>
          </a:p>
        </p:txBody>
      </p:sp>
    </p:spTree>
    <p:extLst>
      <p:ext uri="{BB962C8B-B14F-4D97-AF65-F5344CB8AC3E}">
        <p14:creationId xmlns:p14="http://schemas.microsoft.com/office/powerpoint/2010/main" val="66829026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BD31CF1-2C47-418A-ACF2-148026AABEBE}" type="slidenum">
              <a:rPr lang="en-US" smtClean="0"/>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31227B7-250F-401A-95C3-D5BDADA846F2}"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D8818E-4975-47DF-8CD0-6344EFD914C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DAFE145-ED9B-4B08-B025-07C1008AB20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61B1F41-E8EA-4B90-BE85-19C4DE8D44E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79ABA79-478A-404D-99B5-99195D9880E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05BF30C-8BA7-4D76-8088-9C7E4A5002F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EA166F9-F2DC-4D4F-9997-A2E509843F4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7F2AA55-01D9-4BEB-8817-DF497CDB6F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9328C0F-E443-4F2A-ADCD-5E88BC85CD7B}"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B2B604B-9F90-4172-AA66-56CDDB9BD1C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E1E14C4-0BAF-4188-B75E-6040AF0EBE94}"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1FF7A804-A991-4F4D-B99F-34F25686AA62}"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23528" y="314218"/>
            <a:ext cx="1596675" cy="76607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6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6.png"/><Relationship Id="rId5" Type="http://schemas.openxmlformats.org/officeDocument/2006/relationships/tags" Target="../tags/tag5.xml"/><Relationship Id="rId10" Type="http://schemas.openxmlformats.org/officeDocument/2006/relationships/image" Target="../media/image5.png"/><Relationship Id="rId4" Type="http://schemas.openxmlformats.org/officeDocument/2006/relationships/tags" Target="../tags/tag4.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6" descr="C:\Users\parul\Desktop\temp.png"/>
          <p:cNvPicPr>
            <a:picLocks noChangeAspect="1" noChangeArrowheads="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Box 4"/>
          <p:cNvSpPr>
            <a:spLocks noChangeArrowheads="1"/>
          </p:cNvSpPr>
          <p:nvPr>
            <p:custDataLst>
              <p:tags r:id="rId2"/>
            </p:custDataLst>
          </p:nvPr>
        </p:nvSpPr>
        <p:spPr bwMode="auto">
          <a:xfrm>
            <a:off x="1161106" y="1055024"/>
            <a:ext cx="68580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buFont typeface="Arial" panose="020B0604020202020204" pitchFamily="34" charset="0"/>
              <a:buNone/>
            </a:pPr>
            <a:r>
              <a:rPr lang="en-CA" altLang="en-IN" sz="3200" b="1" dirty="0">
                <a:solidFill>
                  <a:srgbClr val="000000"/>
                </a:solidFill>
                <a:cs typeface="Calibri" panose="020F0502020204030204" pitchFamily="34" charset="0"/>
              </a:rPr>
              <a:t>Your Project title</a:t>
            </a:r>
          </a:p>
        </p:txBody>
      </p:sp>
      <p:pic>
        <p:nvPicPr>
          <p:cNvPr id="5125" name="Picture 2" descr="C:\Users\parul\Desktop\Registered Logosd.png"/>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3420110" y="116507"/>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6" name="Group 26"/>
          <p:cNvGrpSpPr/>
          <p:nvPr/>
        </p:nvGrpSpPr>
        <p:grpSpPr bwMode="auto">
          <a:xfrm>
            <a:off x="1711007" y="1917192"/>
            <a:ext cx="6308725" cy="93663"/>
            <a:chOff x="1428728" y="2571744"/>
            <a:chExt cx="6309404" cy="94298"/>
          </a:xfrm>
        </p:grpSpPr>
        <p:sp>
          <p:nvSpPr>
            <p:cNvPr id="5130" name="Straight Connector 8"/>
            <p:cNvSpPr>
              <a:spLocks noChangeShapeType="1"/>
            </p:cNvSpPr>
            <p:nvPr>
              <p:custDataLst>
                <p:tags r:id="rId4"/>
              </p:custDataLst>
            </p:nvPr>
          </p:nvSpPr>
          <p:spPr bwMode="auto">
            <a:xfrm>
              <a:off x="1428728" y="2618094"/>
              <a:ext cx="6287177" cy="1598"/>
            </a:xfrm>
            <a:prstGeom prst="line">
              <a:avLst/>
            </a:prstGeom>
            <a:noFill/>
            <a:ln w="9525" algn="ctr">
              <a:solidFill>
                <a:srgbClr val="000000"/>
              </a:solidFill>
              <a:round/>
            </a:ln>
            <a:extLst>
              <a:ext uri="{909E8E84-426E-40DD-AFC4-6F175D3DCCD1}">
                <a14:hiddenFill xmlns:a14="http://schemas.microsoft.com/office/drawing/2010/main">
                  <a:noFill/>
                </a14:hiddenFill>
              </a:ext>
            </a:extLst>
          </p:spPr>
          <p:txBody>
            <a:bodyPr/>
            <a:lstStyle/>
            <a:p>
              <a:endParaRPr lang="en-IN"/>
            </a:p>
          </p:txBody>
        </p:sp>
        <p:sp>
          <p:nvSpPr>
            <p:cNvPr id="5131" name="Oval 24"/>
            <p:cNvSpPr>
              <a:spLocks noChangeArrowheads="1"/>
            </p:cNvSpPr>
            <p:nvPr>
              <p:custDataLst>
                <p:tags r:id="rId5"/>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solidFill>
                    <a:srgbClr val="000000"/>
                  </a:solidFill>
                  <a:rou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latin typeface="Arial" panose="020B0604020202020204" pitchFamily="34" charset="0"/>
                <a:cs typeface="Arial" panose="020B0604020202020204" pitchFamily="34" charset="0"/>
              </a:endParaRPr>
            </a:p>
          </p:txBody>
        </p:sp>
        <p:sp>
          <p:nvSpPr>
            <p:cNvPr id="5132" name="Oval 25"/>
            <p:cNvSpPr>
              <a:spLocks noChangeArrowheads="1"/>
            </p:cNvSpPr>
            <p:nvPr>
              <p:custDataLst>
                <p:tags r:id="rId6"/>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solidFill>
                    <a:srgbClr val="000000"/>
                  </a:solidFill>
                  <a:rou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latin typeface="Arial" panose="020B0604020202020204" pitchFamily="34" charset="0"/>
                <a:cs typeface="Arial" panose="020B0604020202020204" pitchFamily="34" charset="0"/>
              </a:endParaRPr>
            </a:p>
          </p:txBody>
        </p:sp>
      </p:grpSp>
      <p:pic>
        <p:nvPicPr>
          <p:cNvPr id="5127" name="Audio 2">
            <a:hlinkClick r:id="" action="ppaction://media"/>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318500" y="6032500"/>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B4958E4F-9846-4F25-B454-598653F66ED7}" type="slidenum">
              <a:rPr lang="en-US" altLang="en-US"/>
              <a:t>1</a:t>
            </a:fld>
            <a:endParaRPr lang="en-US" altLang="en-US" dirty="0"/>
          </a:p>
        </p:txBody>
      </p:sp>
      <p:pic>
        <p:nvPicPr>
          <p:cNvPr id="6" name="Audio 5">
            <a:hlinkClick r:id="" action="ppaction://media"/>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585200" y="6299200"/>
            <a:ext cx="406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7"/>
          <p:cNvSpPr txBox="1">
            <a:spLocks noChangeArrowheads="1"/>
          </p:cNvSpPr>
          <p:nvPr/>
        </p:nvSpPr>
        <p:spPr bwMode="auto">
          <a:xfrm>
            <a:off x="467360" y="2225040"/>
            <a:ext cx="4320664" cy="2572112"/>
          </a:xfrm>
          <a:prstGeom prst="rect">
            <a:avLst/>
          </a:prstGeom>
          <a:noFill/>
          <a:ln w="9525">
            <a:noFill/>
            <a:miter lim="800000"/>
          </a:ln>
        </p:spPr>
        <p:txBody>
          <a:bodyPr wrap="square">
            <a:spAutoFit/>
          </a:bodyPr>
          <a:lstStyle/>
          <a:p>
            <a:pPr algn="just">
              <a:defRPr/>
            </a:pPr>
            <a:r>
              <a:rPr lang="en-US" sz="2000" b="1" dirty="0">
                <a:solidFill>
                  <a:srgbClr val="002060"/>
                </a:solidFill>
                <a:latin typeface="Calibri" panose="020F0502020204030204" pitchFamily="34" charset="0"/>
                <a:cs typeface="Calibri" panose="020F0502020204030204" pitchFamily="34" charset="0"/>
              </a:rPr>
              <a:t>Presented  By:</a:t>
            </a:r>
          </a:p>
          <a:p>
            <a:pPr algn="just">
              <a:defRPr/>
            </a:pPr>
            <a:r>
              <a:rPr lang="en-CA" altLang="en-US" sz="2000" dirty="0" smtClean="0">
                <a:latin typeface="Calibri" panose="020F0502020204030204" pitchFamily="34" charset="0"/>
                <a:ea typeface="Verdana" panose="020B0604030504040204" pitchFamily="34" charset="0"/>
                <a:cs typeface="Calibri" panose="020F0502020204030204" pitchFamily="34" charset="0"/>
              </a:rPr>
              <a:t>Ashish </a:t>
            </a:r>
            <a:r>
              <a:rPr lang="en-CA" altLang="en-US" sz="2000" dirty="0" err="1" smtClean="0">
                <a:latin typeface="Calibri" panose="020F0502020204030204" pitchFamily="34" charset="0"/>
                <a:ea typeface="Verdana" panose="020B0604030504040204" pitchFamily="34" charset="0"/>
                <a:cs typeface="Calibri" panose="020F0502020204030204" pitchFamily="34" charset="0"/>
              </a:rPr>
              <a:t>Kumavat</a:t>
            </a:r>
            <a:r>
              <a:rPr lang="en-CA" altLang="en-US" sz="2000" dirty="0" smtClean="0">
                <a:latin typeface="Calibri" panose="020F0502020204030204" pitchFamily="34" charset="0"/>
                <a:ea typeface="Verdana" panose="020B0604030504040204" pitchFamily="34" charset="0"/>
                <a:cs typeface="Calibri" panose="020F0502020204030204" pitchFamily="34" charset="0"/>
              </a:rPr>
              <a:t> (2403031307004)</a:t>
            </a:r>
            <a:endParaRPr lang="en-CA" altLang="en-US" sz="2000" dirty="0">
              <a:latin typeface="Calibri" panose="020F0502020204030204" pitchFamily="34" charset="0"/>
              <a:ea typeface="Verdana" panose="020B0604030504040204" pitchFamily="34" charset="0"/>
              <a:cs typeface="Calibri" panose="020F0502020204030204" pitchFamily="34" charset="0"/>
            </a:endParaRPr>
          </a:p>
          <a:p>
            <a:pPr algn="just">
              <a:defRPr/>
            </a:pPr>
            <a:r>
              <a:rPr lang="en-CA" altLang="en-US" sz="2000" dirty="0" err="1" smtClean="0">
                <a:latin typeface="Calibri" panose="020F0502020204030204" pitchFamily="34" charset="0"/>
                <a:ea typeface="Verdana" panose="020B0604030504040204" pitchFamily="34" charset="0"/>
                <a:cs typeface="Calibri" panose="020F0502020204030204" pitchFamily="34" charset="0"/>
              </a:rPr>
              <a:t>Vishwa</a:t>
            </a:r>
            <a:r>
              <a:rPr lang="en-CA" altLang="en-US" sz="2000" dirty="0" smtClean="0">
                <a:latin typeface="Calibri" panose="020F0502020204030204" pitchFamily="34" charset="0"/>
                <a:ea typeface="Verdana" panose="020B0604030504040204" pitchFamily="34" charset="0"/>
                <a:cs typeface="Calibri" panose="020F0502020204030204" pitchFamily="34" charset="0"/>
              </a:rPr>
              <a:t> Solanki (2403031307006)</a:t>
            </a:r>
            <a:endParaRPr lang="en-CA" altLang="en-US" sz="2000" dirty="0">
              <a:latin typeface="Calibri" panose="020F0502020204030204" pitchFamily="34" charset="0"/>
              <a:ea typeface="Verdana" panose="020B0604030504040204" pitchFamily="34" charset="0"/>
              <a:cs typeface="Calibri" panose="020F0502020204030204" pitchFamily="34" charset="0"/>
            </a:endParaRPr>
          </a:p>
          <a:p>
            <a:pPr algn="just">
              <a:defRPr/>
            </a:pPr>
            <a:r>
              <a:rPr lang="en-CA" altLang="en-US" sz="2000" dirty="0" err="1" smtClean="0">
                <a:latin typeface="Calibri" panose="020F0502020204030204" pitchFamily="34" charset="0"/>
                <a:ea typeface="Verdana" panose="020B0604030504040204" pitchFamily="34" charset="0"/>
                <a:cs typeface="Calibri" panose="020F0502020204030204" pitchFamily="34" charset="0"/>
              </a:rPr>
              <a:t>Jayesh</a:t>
            </a:r>
            <a:r>
              <a:rPr lang="en-CA" altLang="en-US" sz="2000" dirty="0" smtClean="0">
                <a:latin typeface="Calibri" panose="020F0502020204030204" pitchFamily="34" charset="0"/>
                <a:ea typeface="Verdana" panose="020B0604030504040204" pitchFamily="34" charset="0"/>
                <a:cs typeface="Calibri" panose="020F0502020204030204" pitchFamily="34" charset="0"/>
              </a:rPr>
              <a:t> Patel </a:t>
            </a:r>
            <a:r>
              <a:rPr lang="en-CA" altLang="en-US" sz="2000" dirty="0">
                <a:latin typeface="Calibri" panose="020F0502020204030204" pitchFamily="34" charset="0"/>
                <a:ea typeface="Verdana" panose="020B0604030504040204" pitchFamily="34" charset="0"/>
                <a:cs typeface="Calibri" panose="020F0502020204030204" pitchFamily="34" charset="0"/>
              </a:rPr>
              <a:t>(</a:t>
            </a:r>
            <a:r>
              <a:rPr lang="en-CA" altLang="en-US" sz="2000" dirty="0" smtClean="0">
                <a:latin typeface="Calibri" panose="020F0502020204030204" pitchFamily="34" charset="0"/>
                <a:ea typeface="Verdana" panose="020B0604030504040204" pitchFamily="34" charset="0"/>
                <a:cs typeface="Calibri" panose="020F0502020204030204" pitchFamily="34" charset="0"/>
              </a:rPr>
              <a:t>2403031307009)</a:t>
            </a:r>
          </a:p>
          <a:p>
            <a:pPr algn="just">
              <a:defRPr/>
            </a:pPr>
            <a:r>
              <a:rPr lang="en-CA" altLang="en-US" sz="2000" dirty="0" err="1">
                <a:latin typeface="Calibri" panose="020F0502020204030204" pitchFamily="34" charset="0"/>
                <a:ea typeface="Verdana" panose="020B0604030504040204" pitchFamily="34" charset="0"/>
                <a:cs typeface="Calibri" panose="020F0502020204030204" pitchFamily="34" charset="0"/>
              </a:rPr>
              <a:t>Suraj</a:t>
            </a:r>
            <a:r>
              <a:rPr lang="en-CA" altLang="en-US" sz="2000" dirty="0">
                <a:latin typeface="Calibri" panose="020F0502020204030204" pitchFamily="34" charset="0"/>
                <a:ea typeface="Verdana" panose="020B0604030504040204" pitchFamily="34" charset="0"/>
                <a:cs typeface="Calibri" panose="020F0502020204030204" pitchFamily="34" charset="0"/>
              </a:rPr>
              <a:t> Singh (</a:t>
            </a:r>
            <a:r>
              <a:rPr lang="en-CA" altLang="en-US" sz="2000" dirty="0" smtClean="0">
                <a:latin typeface="Calibri" panose="020F0502020204030204" pitchFamily="34" charset="0"/>
                <a:ea typeface="Verdana" panose="020B0604030504040204" pitchFamily="34" charset="0"/>
                <a:cs typeface="Calibri" panose="020F0502020204030204" pitchFamily="34" charset="0"/>
              </a:rPr>
              <a:t>2403031307010</a:t>
            </a:r>
            <a:r>
              <a:rPr lang="en-CA" altLang="en-US" sz="2000" dirty="0">
                <a:latin typeface="Calibri" panose="020F0502020204030204" pitchFamily="34" charset="0"/>
                <a:ea typeface="Verdana" panose="020B0604030504040204" pitchFamily="34" charset="0"/>
                <a:cs typeface="Calibri" panose="020F0502020204030204" pitchFamily="34" charset="0"/>
              </a:rPr>
              <a:t>)</a:t>
            </a:r>
          </a:p>
          <a:p>
            <a:pPr algn="just">
              <a:defRPr/>
            </a:pPr>
            <a:r>
              <a:rPr lang="en-US" sz="2800" dirty="0" smtClean="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r>
              <a:rPr lang="en-IN" sz="2800" dirty="0" smtClean="0">
                <a:solidFill>
                  <a:srgbClr val="002060"/>
                </a:solidFill>
                <a:latin typeface="Gabriola" panose="04040605051002020D02" pitchFamily="82" charset="0"/>
              </a:rPr>
              <a:t> </a:t>
            </a:r>
            <a:endPar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endParaRPr>
          </a:p>
          <a:p>
            <a:pPr algn="just">
              <a:defRPr/>
            </a:pPr>
            <a:r>
              <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p>
        </p:txBody>
      </p:sp>
      <p:sp>
        <p:nvSpPr>
          <p:cNvPr id="15" name="TextBox 7"/>
          <p:cNvSpPr txBox="1">
            <a:spLocks noChangeArrowheads="1"/>
          </p:cNvSpPr>
          <p:nvPr/>
        </p:nvSpPr>
        <p:spPr bwMode="auto">
          <a:xfrm>
            <a:off x="4572000" y="2225040"/>
            <a:ext cx="4914265" cy="953135"/>
          </a:xfrm>
          <a:prstGeom prst="rect">
            <a:avLst/>
          </a:prstGeom>
          <a:noFill/>
          <a:ln w="9525">
            <a:noFill/>
            <a:miter lim="800000"/>
          </a:ln>
        </p:spPr>
        <p:txBody>
          <a:bodyPr wrap="square">
            <a:spAutoFit/>
          </a:bodyPr>
          <a:lstStyle/>
          <a:p>
            <a:pPr>
              <a:defRPr/>
            </a:pPr>
            <a:r>
              <a:rPr lang="en-US" sz="2800" b="1" dirty="0">
                <a:solidFill>
                  <a:srgbClr val="002060"/>
                </a:solidFill>
                <a:latin typeface="Gabriola" panose="04040605051002020D02" pitchFamily="82" charset="0"/>
              </a:rPr>
              <a:t>    </a:t>
            </a:r>
            <a:r>
              <a:rPr lang="en-US" sz="2000" b="1" dirty="0">
                <a:solidFill>
                  <a:srgbClr val="002060"/>
                </a:solidFill>
                <a:latin typeface="Calibri" panose="020F0502020204030204" pitchFamily="34" charset="0"/>
                <a:cs typeface="Calibri" panose="020F0502020204030204" pitchFamily="34" charset="0"/>
              </a:rPr>
              <a:t>Supervised by:</a:t>
            </a:r>
            <a:endParaRPr lang="en-US" sz="2000" b="1" dirty="0">
              <a:solidFill>
                <a:srgbClr val="002060"/>
              </a:solidFill>
              <a:latin typeface="Gabriola" panose="04040605051002020D02" pitchFamily="82" charset="0"/>
            </a:endParaRPr>
          </a:p>
          <a:p>
            <a:pPr>
              <a:defRPr/>
            </a:pPr>
            <a:r>
              <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r>
              <a:rPr lang="en-CA" sz="2000" dirty="0">
                <a:latin typeface="Calibri" panose="020F0502020204030204" pitchFamily="34" charset="0"/>
                <a:ea typeface="Verdana" panose="020B0604030504040204" pitchFamily="34" charset="0"/>
                <a:cs typeface="Calibri" panose="020F0502020204030204" pitchFamily="34" charset="0"/>
              </a:rPr>
              <a:t>Prof. </a:t>
            </a:r>
            <a:r>
              <a:rPr lang="en-CA" sz="2000" dirty="0" err="1" smtClean="0">
                <a:latin typeface="Calibri" panose="020F0502020204030204" pitchFamily="34" charset="0"/>
                <a:ea typeface="Verdana" panose="020B0604030504040204" pitchFamily="34" charset="0"/>
                <a:cs typeface="Calibri" panose="020F0502020204030204" pitchFamily="34" charset="0"/>
              </a:rPr>
              <a:t>Alok</a:t>
            </a:r>
            <a:r>
              <a:rPr lang="en-CA" sz="2000" dirty="0" smtClean="0">
                <a:latin typeface="Calibri" panose="020F0502020204030204" pitchFamily="34" charset="0"/>
                <a:ea typeface="Verdana" panose="020B0604030504040204" pitchFamily="34" charset="0"/>
                <a:cs typeface="Calibri" panose="020F0502020204030204" pitchFamily="34" charset="0"/>
              </a:rPr>
              <a:t> Singh </a:t>
            </a:r>
            <a:r>
              <a:rPr lang="en-CA" sz="2000" dirty="0" err="1" smtClean="0">
                <a:latin typeface="Calibri" panose="020F0502020204030204" pitchFamily="34" charset="0"/>
                <a:ea typeface="Verdana" panose="020B0604030504040204" pitchFamily="34" charset="0"/>
                <a:cs typeface="Calibri" panose="020F0502020204030204" pitchFamily="34" charset="0"/>
              </a:rPr>
              <a:t>Kushwaha</a:t>
            </a:r>
            <a:r>
              <a:rPr lang="en-US" sz="2400" dirty="0" smtClean="0">
                <a:effectLst>
                  <a:outerShdw blurRad="38100" dist="38100" dir="2700000" algn="tl">
                    <a:srgbClr val="000000">
                      <a:alpha val="43137"/>
                    </a:srgbClr>
                  </a:outerShdw>
                </a:effectLst>
                <a:latin typeface="Calibri" panose="020F0502020204030204" pitchFamily="34" charset="0"/>
                <a:ea typeface="Verdana" panose="020B0604030504040204" pitchFamily="34" charset="0"/>
                <a:cs typeface="Calibri" panose="020F0502020204030204" pitchFamily="34" charset="0"/>
              </a:rPr>
              <a:t> </a:t>
            </a:r>
            <a:r>
              <a:rPr lang="en-US" sz="2800" dirty="0" smtClean="0">
                <a:effectLst>
                  <a:outerShdw blurRad="38100" dist="38100" dir="2700000" algn="tl">
                    <a:srgbClr val="000000">
                      <a:alpha val="43137"/>
                    </a:srgbClr>
                  </a:outerShdw>
                </a:effectLst>
                <a:latin typeface="Calibri" panose="020F0502020204030204" pitchFamily="34" charset="0"/>
                <a:ea typeface="Verdana" panose="020B0604030504040204" pitchFamily="34" charset="0"/>
                <a:cs typeface="Calibri" panose="020F0502020204030204" pitchFamily="34" charset="0"/>
              </a:rPr>
              <a:t>    </a:t>
            </a:r>
            <a:endParaRPr lang="en-US" sz="2800" dirty="0">
              <a:effectLst>
                <a:outerShdw blurRad="38100" dist="38100" dir="2700000" algn="tl">
                  <a:srgbClr val="000000">
                    <a:alpha val="43137"/>
                  </a:srgbClr>
                </a:outerShdw>
              </a:effectLst>
              <a:latin typeface="Calibri" panose="020F0502020204030204" pitchFamily="34" charset="0"/>
              <a:ea typeface="Verdana" panose="020B0604030504040204" pitchFamily="34" charset="0"/>
              <a:cs typeface="Calibri" panose="020F0502020204030204" pitchFamily="34" charset="0"/>
            </a:endParaRPr>
          </a:p>
        </p:txBody>
      </p:sp>
    </p:spTree>
  </p:cSld>
  <p:clrMapOvr>
    <a:masterClrMapping/>
  </p:clrMapOvr>
  <p:transition spd="slow" advTm="9596"/>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Title 1"/>
          <p:cNvSpPr>
            <a:spLocks noGrp="1"/>
          </p:cNvSpPr>
          <p:nvPr>
            <p:ph type="title"/>
          </p:nvPr>
        </p:nvSpPr>
        <p:spPr>
          <a:xfrm>
            <a:off x="611304" y="1052736"/>
            <a:ext cx="5184576" cy="725470"/>
          </a:xfrm>
          <a:ln>
            <a:solidFill>
              <a:schemeClr val="bg1"/>
            </a:solidFill>
          </a:ln>
        </p:spPr>
        <p:txBody>
          <a:bodyPr>
            <a:normAutofit/>
          </a:bodyPr>
          <a:lstStyle/>
          <a:p>
            <a:r>
              <a:rPr lang="en-US" sz="3555" dirty="0">
                <a:latin typeface="Calibri" panose="020F0502020204030204" pitchFamily="34" charset="0"/>
                <a:cs typeface="Calibri" panose="020F0502020204030204" pitchFamily="34" charset="0"/>
              </a:rPr>
              <a:t>OUTLINE</a:t>
            </a:r>
          </a:p>
        </p:txBody>
      </p:sp>
      <p:sp>
        <p:nvSpPr>
          <p:cNvPr id="5" name="Content Placeholder 2"/>
          <p:cNvSpPr>
            <a:spLocks noGrp="1" noChangeArrowheads="1"/>
          </p:cNvSpPr>
          <p:nvPr>
            <p:ph idx="1"/>
          </p:nvPr>
        </p:nvSpPr>
        <p:spPr>
          <a:xfrm>
            <a:off x="755650" y="1844675"/>
            <a:ext cx="8334868" cy="4804410"/>
          </a:xfrm>
        </p:spPr>
        <p:txBody>
          <a:bodyPr vert="horz" lIns="45720" tIns="45720" rIns="45720" bIns="45720" rtlCol="0" anchor="t">
            <a:normAutofit fontScale="95000"/>
          </a:bodyPr>
          <a:lstStyle/>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Introduction</a:t>
            </a:r>
          </a:p>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Objectives of Project Work</a:t>
            </a:r>
          </a:p>
          <a:p>
            <a:pPr>
              <a:buFont typeface="Arial" panose="020B0604020202020204" pitchFamily="34" charset="0"/>
              <a:buChar char="•"/>
            </a:pPr>
            <a:r>
              <a:rPr lang="en-US" altLang="en-US" sz="2400" dirty="0">
                <a:latin typeface="Calibri" panose="020F0502020204030204" pitchFamily="34" charset="0"/>
                <a:cs typeface="Calibri" panose="020F0502020204030204" pitchFamily="34" charset="0"/>
              </a:rPr>
              <a:t> Literature Survey</a:t>
            </a:r>
          </a:p>
          <a:p>
            <a:pPr>
              <a:buFont typeface="Arial" panose="020B0604020202020204" pitchFamily="34" charset="0"/>
              <a:buChar char="•"/>
            </a:pPr>
            <a:r>
              <a:rPr lang="en-US" altLang="en-US" sz="2400" dirty="0">
                <a:latin typeface="Calibri" panose="020F0502020204030204" pitchFamily="34" charset="0"/>
                <a:cs typeface="Calibri" panose="020F0502020204030204" pitchFamily="34" charset="0"/>
              </a:rPr>
              <a:t> Problem Statement</a:t>
            </a:r>
          </a:p>
          <a:p>
            <a:pPr>
              <a:buFont typeface="Arial" panose="020B0604020202020204" pitchFamily="34" charset="0"/>
              <a:buChar char="•"/>
            </a:pPr>
            <a:r>
              <a:rPr lang="en-US" altLang="en-US" sz="2400" dirty="0">
                <a:latin typeface="Calibri" panose="020F0502020204030204"/>
                <a:cs typeface="Calibri" panose="020F0502020204030204"/>
              </a:rPr>
              <a:t> Implementation with </a:t>
            </a:r>
            <a:r>
              <a:rPr lang="en-US" altLang="en-US" sz="2400" dirty="0" smtClean="0">
                <a:latin typeface="Calibri" panose="020F0502020204030204"/>
                <a:cs typeface="Calibri" panose="020F0502020204030204"/>
              </a:rPr>
              <a:t>Results</a:t>
            </a:r>
            <a:endParaRPr lang="en-US" altLang="en-US" sz="24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altLang="en-GB" sz="2400" dirty="0">
                <a:latin typeface="Calibri" panose="020F0502020204030204" pitchFamily="34" charset="0"/>
                <a:cs typeface="Calibri" panose="020F0502020204030204" pitchFamily="34" charset="0"/>
              </a:rPr>
              <a:t> </a:t>
            </a:r>
            <a:r>
              <a:rPr lang="en-CA" altLang="en-US" sz="2400" dirty="0">
                <a:latin typeface="Calibri" panose="020F0502020204030204" pitchFamily="34" charset="0"/>
                <a:cs typeface="Calibri" panose="020F0502020204030204" pitchFamily="34" charset="0"/>
              </a:rPr>
              <a:t>C</a:t>
            </a:r>
            <a:r>
              <a:rPr lang="en-GB" altLang="en-US" sz="2400" dirty="0">
                <a:latin typeface="Calibri" panose="020F0502020204030204" pitchFamily="34" charset="0"/>
                <a:cs typeface="Calibri" panose="020F0502020204030204" pitchFamily="34" charset="0"/>
              </a:rPr>
              <a:t>onclusion &amp; Future Work</a:t>
            </a:r>
            <a:endParaRPr lang="en-US" altLang="en-US" sz="24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Reference</a:t>
            </a:r>
            <a:endParaRPr lang="en-GB" altLang="en-US" sz="2400" dirty="0">
              <a:latin typeface="Calibri" panose="020F0502020204030204" pitchFamily="34" charset="0"/>
              <a:cs typeface="Calibri" panose="020F0502020204030204" pitchFamily="34" charset="0"/>
            </a:endParaRPr>
          </a:p>
          <a:p>
            <a:endParaRPr lang="en-IN" altLang="en-US" sz="2400" dirty="0">
              <a:latin typeface="Times New Roman" panose="02020603050405020304" pitchFamily="18" charset="0"/>
              <a:cs typeface="Times New Roman" panose="02020603050405020304" pitchFamily="18" charset="0"/>
            </a:endParaRPr>
          </a:p>
          <a:p>
            <a:endParaRPr lang="en-IN" altLang="en-US" sz="2400" dirty="0">
              <a:latin typeface="Times New Roman" panose="02020603050405020304" pitchFamily="18" charset="0"/>
              <a:cs typeface="Times New Roman" panose="02020603050405020304" pitchFamily="18" charset="0"/>
            </a:endParaRPr>
          </a:p>
          <a:p>
            <a:endParaRPr lang="en-IN" altLang="en-US" sz="2400" dirty="0"/>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496" y="692531"/>
            <a:ext cx="7290054" cy="1499616"/>
          </a:xfrm>
        </p:spPr>
        <p:txBody>
          <a:bodyPr/>
          <a:lstStyle/>
          <a:p>
            <a:r>
              <a:rPr lang="en-IN" sz="3600" dirty="0" smtClean="0">
                <a:latin typeface="Calibri" panose="020F0502020204030204" pitchFamily="34" charset="0"/>
                <a:cs typeface="Calibri" panose="020F0502020204030204" pitchFamily="34" charset="0"/>
                <a:sym typeface="+mn-ea"/>
              </a:rPr>
              <a:t>Introduction</a:t>
            </a:r>
            <a:endParaRPr lang="en-CA" altLang="en-IN" sz="3600" baseline="30000" dirty="0">
              <a:latin typeface="Calibri" panose="020F0502020204030204" pitchFamily="34" charset="0"/>
              <a:cs typeface="Calibri" panose="020F0502020204030204" pitchFamily="34" charset="0"/>
              <a:sym typeface="+mn-ea"/>
            </a:endParaRPr>
          </a:p>
        </p:txBody>
      </p:sp>
      <p:sp>
        <p:nvSpPr>
          <p:cNvPr id="17" name="Content Placeholder 2"/>
          <p:cNvSpPr>
            <a:spLocks noGrp="1" noChangeArrowheads="1"/>
          </p:cNvSpPr>
          <p:nvPr>
            <p:ph sz="half" idx="1"/>
          </p:nvPr>
        </p:nvSpPr>
        <p:spPr/>
        <p:txBody>
          <a:bodyPr/>
          <a:lstStyle/>
          <a:p>
            <a:endParaRPr lang="en-IN" altLang="en-US" sz="3000" dirty="0">
              <a:latin typeface="Times New Roman" panose="02020603050405020304" pitchFamily="18" charset="0"/>
              <a:cs typeface="Times New Roman" panose="02020603050405020304" pitchFamily="18" charset="0"/>
            </a:endParaRPr>
          </a:p>
          <a:p>
            <a:endParaRPr lang="en-IN" altLang="en-US" sz="3000" dirty="0">
              <a:latin typeface="Times New Roman" panose="02020603050405020304" pitchFamily="18" charset="0"/>
              <a:cs typeface="Times New Roman" panose="02020603050405020304" pitchFamily="18" charset="0"/>
            </a:endParaRPr>
          </a:p>
          <a:p>
            <a:endParaRPr lang="en-IN" altLang="en-US" sz="3000" dirty="0"/>
          </a:p>
        </p:txBody>
      </p:sp>
      <p:sp>
        <p:nvSpPr>
          <p:cNvPr id="8" name="Slide Number Placeholder 7"/>
          <p:cNvSpPr>
            <a:spLocks noGrp="1"/>
          </p:cNvSpPr>
          <p:nvPr>
            <p:ph type="sldNum" sz="quarter" idx="12"/>
          </p:nvPr>
        </p:nvSpPr>
        <p:spPr/>
        <p:txBody>
          <a:bodyPr/>
          <a:lstStyle/>
          <a:p>
            <a:pPr>
              <a:buNone/>
              <a:defRPr/>
            </a:pPr>
            <a:fld id="{76D8818E-4975-47DF-8CD0-6344EFD914C9}" type="slidenum">
              <a:rPr lang="en-US" smtClean="0"/>
              <a:t>3</a:t>
            </a:fld>
            <a:endParaRPr lang="en-US" dirty="0"/>
          </a:p>
        </p:txBody>
      </p:sp>
      <p:sp>
        <p:nvSpPr>
          <p:cNvPr id="18" name="Title 1"/>
          <p:cNvSpPr txBox="1"/>
          <p:nvPr/>
        </p:nvSpPr>
        <p:spPr>
          <a:xfrm>
            <a:off x="1188084" y="548928"/>
            <a:ext cx="6347713" cy="949672"/>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en-IN" sz="3200" dirty="0">
              <a:latin typeface="Calibri" panose="020F0502020204030204" pitchFamily="34" charset="0"/>
              <a:cs typeface="Calibri" panose="020F0502020204030204" pitchFamily="34" charset="0"/>
            </a:endParaRPr>
          </a:p>
        </p:txBody>
      </p:sp>
      <p:sp>
        <p:nvSpPr>
          <p:cNvPr id="3" name="Text Box 2"/>
          <p:cNvSpPr txBox="1"/>
          <p:nvPr/>
        </p:nvSpPr>
        <p:spPr>
          <a:xfrm>
            <a:off x="537242" y="1921654"/>
            <a:ext cx="8321008" cy="3785652"/>
          </a:xfrm>
          <a:prstGeom prst="rect">
            <a:avLst/>
          </a:prstGeom>
          <a:noFill/>
        </p:spPr>
        <p:txBody>
          <a:bodyPr wrap="square" lIns="91440" tIns="45720" rIns="91440" bIns="45720" rtlCol="0" anchor="t">
            <a:spAutoFit/>
          </a:bodyPr>
          <a:lstStyle/>
          <a:p>
            <a:pPr marL="342900" indent="-342900" algn="just">
              <a:buFont typeface="Arial" panose="020B0604020202020204"/>
              <a:buChar char="•"/>
            </a:pPr>
            <a:r>
              <a:rPr lang="en-US" sz="2000" dirty="0" err="1"/>
              <a:t>CloudRead</a:t>
            </a:r>
            <a:r>
              <a:rPr lang="en-US" sz="2000" dirty="0"/>
              <a:t> is a </a:t>
            </a:r>
            <a:r>
              <a:rPr lang="en-US" sz="2000" b="1" dirty="0"/>
              <a:t>cloud-based digital library system</a:t>
            </a:r>
            <a:r>
              <a:rPr lang="en-US" sz="2000" dirty="0"/>
              <a:t> designed to provide easy access to electronic books</a:t>
            </a:r>
            <a:r>
              <a:rPr lang="en-US" sz="2000" dirty="0" smtClean="0"/>
              <a:t>. </a:t>
            </a:r>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t>It allows users to </a:t>
            </a:r>
            <a:r>
              <a:rPr lang="en-US" sz="2000" b="1" dirty="0"/>
              <a:t>browse, search, read, and download e-books</a:t>
            </a:r>
            <a:r>
              <a:rPr lang="en-US" sz="2000" dirty="0"/>
              <a:t> through an online platform</a:t>
            </a:r>
            <a:r>
              <a:rPr lang="en-US" sz="2000" dirty="0" smtClean="0"/>
              <a:t>.</a:t>
            </a:r>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t>The system eliminates the dependency on physical libraries and provides access to books </a:t>
            </a:r>
            <a:r>
              <a:rPr lang="en-US" sz="2000" b="1" dirty="0"/>
              <a:t>anytime and anywhere</a:t>
            </a:r>
            <a:r>
              <a:rPr lang="en-US" sz="2000" dirty="0" smtClean="0"/>
              <a:t>.</a:t>
            </a:r>
          </a:p>
          <a:p>
            <a:pPr marL="342900" indent="-342900" algn="just">
              <a:buFont typeface="Arial" panose="020B0604020202020204"/>
              <a:buChar char="•"/>
            </a:pPr>
            <a:r>
              <a:rPr lang="en-US" sz="2000" dirty="0"/>
              <a:t>Administrators can manage books, categories, and users through an </a:t>
            </a:r>
            <a:r>
              <a:rPr lang="en-US" sz="2000" b="1" dirty="0"/>
              <a:t>admin dashboard</a:t>
            </a:r>
            <a:r>
              <a:rPr lang="en-US" sz="2000" dirty="0"/>
              <a:t>.</a:t>
            </a:r>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t>Cloud storage provides </a:t>
            </a:r>
            <a:r>
              <a:rPr lang="en-US" sz="2000" b="1" dirty="0"/>
              <a:t>scalability, availability, backup, and reliable data management</a:t>
            </a:r>
            <a:r>
              <a:rPr lang="en-US" sz="2000" dirty="0" smtClean="0"/>
              <a:t>.</a:t>
            </a:r>
          </a:p>
          <a:p>
            <a:pPr marL="342900" indent="-342900" algn="just">
              <a:buFont typeface="Arial" panose="020B0604020202020204"/>
              <a:buChar char="•"/>
            </a:pPr>
            <a:r>
              <a:rPr lang="en-US" sz="2000" dirty="0"/>
              <a:t>The system uses web technologies such as </a:t>
            </a:r>
            <a:r>
              <a:rPr lang="en-US" sz="2000" b="1" dirty="0"/>
              <a:t>HTML, CSS, JavaScript, Node.js, MongoDB, and cloud services</a:t>
            </a:r>
            <a:r>
              <a:rPr lang="en-US" sz="2000" dirty="0"/>
              <a:t>.</a:t>
            </a:r>
            <a:endParaRPr lang="en-US" sz="2000" dirty="0">
              <a:latin typeface="Calibri" panose="020F0502020204030204"/>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p:cNvSpPr>
            <a:spLocks noGrp="1"/>
          </p:cNvSpPr>
          <p:nvPr>
            <p:ph type="sldNum" sz="quarter" idx="12"/>
          </p:nvPr>
        </p:nvSpPr>
        <p:spPr/>
        <p:txBody>
          <a:bodyPr/>
          <a:lstStyle/>
          <a:p>
            <a:pPr>
              <a:buNone/>
              <a:defRPr/>
            </a:pPr>
            <a:fld id="{76D8818E-4975-47DF-8CD0-6344EFD914C9}" type="slidenum">
              <a:rPr lang="en-US" smtClean="0"/>
              <a:t>4</a:t>
            </a:fld>
            <a:endParaRPr lang="en-US" dirty="0"/>
          </a:p>
        </p:txBody>
      </p:sp>
      <p:sp>
        <p:nvSpPr>
          <p:cNvPr id="12" name="Title 1"/>
          <p:cNvSpPr txBox="1"/>
          <p:nvPr/>
        </p:nvSpPr>
        <p:spPr>
          <a:xfrm>
            <a:off x="609600" y="980440"/>
            <a:ext cx="695198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Objectives of PROJECT Work</a:t>
            </a:r>
            <a:endParaRPr lang="en-US" altLang="en-IN" sz="3600" baseline="30000" dirty="0">
              <a:latin typeface="Calibri" panose="020F0502020204030204"/>
              <a:cs typeface="Calibri" panose="020F0502020204030204"/>
            </a:endParaRPr>
          </a:p>
        </p:txBody>
      </p:sp>
      <p:sp>
        <p:nvSpPr>
          <p:cNvPr id="3" name="Text Box 2"/>
          <p:cNvSpPr txBox="1"/>
          <p:nvPr/>
        </p:nvSpPr>
        <p:spPr>
          <a:xfrm>
            <a:off x="612271" y="2348880"/>
            <a:ext cx="7724140" cy="286232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To design and develop a </a:t>
            </a:r>
            <a:r>
              <a:rPr lang="en-US" sz="2000" b="1" dirty="0"/>
              <a:t>cloud-based digital book library</a:t>
            </a:r>
            <a:r>
              <a:rPr lang="en-US" sz="2000" dirty="0" smtClean="0"/>
              <a:t>.</a:t>
            </a:r>
            <a:endParaRPr lang="en-US" sz="2000" dirty="0">
              <a:latin typeface="Calibri" panose="020F0502020204030204" pitchFamily="34" charset="0"/>
              <a:ea typeface="+mn-lt"/>
              <a:cs typeface="Calibri" panose="020F0502020204030204" pitchFamily="34" charset="0"/>
            </a:endParaRPr>
          </a:p>
          <a:p>
            <a:pPr marL="342900" indent="-342900" algn="just">
              <a:buFont typeface="Arial" panose="020B0604020202020204" pitchFamily="34" charset="0"/>
              <a:buChar char="•"/>
            </a:pPr>
            <a:r>
              <a:rPr lang="en-US" sz="2000" dirty="0"/>
              <a:t>To provide users with </a:t>
            </a:r>
            <a:r>
              <a:rPr lang="en-US" sz="2000" b="1" dirty="0"/>
              <a:t>online access to books</a:t>
            </a:r>
            <a:r>
              <a:rPr lang="en-US" sz="2000" dirty="0" smtClean="0"/>
              <a:t>.</a:t>
            </a:r>
          </a:p>
          <a:p>
            <a:pPr marL="342900" indent="-342900" algn="just">
              <a:buFont typeface="Arial" panose="020B0604020202020204" pitchFamily="34" charset="0"/>
              <a:buChar char="•"/>
            </a:pPr>
            <a:r>
              <a:rPr lang="en-US" sz="2000" dirty="0"/>
              <a:t>To implement </a:t>
            </a:r>
            <a:r>
              <a:rPr lang="en-US" sz="2000" b="1" dirty="0"/>
              <a:t>user registration and secure login</a:t>
            </a:r>
            <a:r>
              <a:rPr lang="en-US" sz="2000" dirty="0" smtClean="0"/>
              <a:t>.</a:t>
            </a:r>
          </a:p>
          <a:p>
            <a:pPr marL="342900" indent="-342900" algn="just">
              <a:buFont typeface="Arial" panose="020B0604020202020204" pitchFamily="34" charset="0"/>
              <a:buChar char="•"/>
            </a:pPr>
            <a:r>
              <a:rPr lang="en-US" sz="2000" dirty="0"/>
              <a:t>To provide search functionality based on </a:t>
            </a:r>
            <a:r>
              <a:rPr lang="en-US" sz="2000" b="1" dirty="0"/>
              <a:t>title, author, and category</a:t>
            </a:r>
            <a:r>
              <a:rPr lang="en-US" sz="2000" dirty="0" smtClean="0"/>
              <a:t>.</a:t>
            </a:r>
          </a:p>
          <a:p>
            <a:pPr marL="342900" indent="-342900" algn="just">
              <a:buFont typeface="Arial" panose="020B0604020202020204" pitchFamily="34" charset="0"/>
              <a:buChar char="•"/>
            </a:pPr>
            <a:r>
              <a:rPr lang="en-US" sz="2000" dirty="0"/>
              <a:t>To allow users to </a:t>
            </a:r>
            <a:r>
              <a:rPr lang="en-US" sz="2000" b="1" dirty="0"/>
              <a:t>read and download books</a:t>
            </a:r>
            <a:r>
              <a:rPr lang="en-US" sz="2000" dirty="0"/>
              <a:t> when permitted</a:t>
            </a:r>
            <a:r>
              <a:rPr lang="en-US" sz="2000" dirty="0" smtClean="0"/>
              <a:t>.</a:t>
            </a:r>
          </a:p>
          <a:p>
            <a:pPr marL="342900" indent="-342900" algn="just">
              <a:buFont typeface="Arial" panose="020B0604020202020204" pitchFamily="34" charset="0"/>
              <a:buChar char="•"/>
            </a:pPr>
            <a:r>
              <a:rPr lang="en-US" sz="2000" dirty="0"/>
              <a:t>To provide an </a:t>
            </a:r>
            <a:r>
              <a:rPr lang="en-US" sz="2000" b="1" dirty="0"/>
              <a:t>admin panel</a:t>
            </a:r>
            <a:r>
              <a:rPr lang="en-US" sz="2000" dirty="0"/>
              <a:t> for managing books and users</a:t>
            </a:r>
            <a:r>
              <a:rPr lang="en-US" sz="2000" dirty="0" smtClean="0"/>
              <a:t>.</a:t>
            </a:r>
          </a:p>
          <a:p>
            <a:pPr marL="342900" indent="-342900" algn="just">
              <a:buFont typeface="Arial" panose="020B0604020202020204" pitchFamily="34" charset="0"/>
              <a:buChar char="•"/>
            </a:pPr>
            <a:r>
              <a:rPr lang="en-US" sz="2000" dirty="0"/>
              <a:t>To securely store digital books using </a:t>
            </a:r>
            <a:r>
              <a:rPr lang="en-US" sz="2000" b="1" dirty="0"/>
              <a:t>cloud storage</a:t>
            </a:r>
            <a:r>
              <a:rPr lang="en-US" sz="2000" dirty="0" smtClean="0"/>
              <a:t>.</a:t>
            </a:r>
          </a:p>
          <a:p>
            <a:pPr marL="342900" indent="-342900" algn="just">
              <a:buFont typeface="Arial" panose="020B0604020202020204" pitchFamily="34" charset="0"/>
              <a:buChar char="•"/>
            </a:pPr>
            <a:r>
              <a:rPr lang="en-US" sz="2000" dirty="0"/>
              <a:t>To provide a system that is </a:t>
            </a:r>
            <a:r>
              <a:rPr lang="en-US" sz="2000" b="1" dirty="0"/>
              <a:t>scalable, reliable, and easily maintainable</a:t>
            </a:r>
            <a:r>
              <a:rPr lang="en-US" sz="2000" dirty="0"/>
              <a:t>.</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750" y="45085"/>
            <a:ext cx="4896346" cy="431587"/>
          </a:xfrm>
        </p:spPr>
        <p:txBody>
          <a:bodyPr>
            <a:noAutofit/>
          </a:bodyPr>
          <a:lstStyle/>
          <a:p>
            <a:r>
              <a:rPr lang="en-US" sz="3200" dirty="0">
                <a:latin typeface="Calibri" panose="020F0502020204030204" pitchFamily="34" charset="0"/>
                <a:cs typeface="Calibri" panose="020F0502020204030204" pitchFamily="34" charset="0"/>
              </a:rPr>
              <a:t>Literature </a:t>
            </a:r>
            <a:r>
              <a:rPr lang="en-US" sz="3100" dirty="0">
                <a:latin typeface="Calibri" panose="020F0502020204030204" pitchFamily="34" charset="0"/>
                <a:cs typeface="Calibri" panose="020F0502020204030204" pitchFamily="34" charset="0"/>
              </a:rPr>
              <a:t>Review</a:t>
            </a:r>
            <a:r>
              <a:rPr lang="en-US" sz="3200" dirty="0"/>
              <a:t> </a:t>
            </a:r>
          </a:p>
        </p:txBody>
      </p:sp>
      <p:graphicFrame>
        <p:nvGraphicFramePr>
          <p:cNvPr id="5" name="Content Placeholder 4"/>
          <p:cNvGraphicFramePr>
            <a:graphicFrameLocks noGrp="1"/>
          </p:cNvGraphicFramePr>
          <p:nvPr>
            <p:ph idx="1"/>
          </p:nvPr>
        </p:nvGraphicFramePr>
        <p:xfrm>
          <a:off x="512738" y="1988840"/>
          <a:ext cx="7615262" cy="5330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5</a:t>
            </a:fld>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844957890"/>
              </p:ext>
            </p:extLst>
          </p:nvPr>
        </p:nvGraphicFramePr>
        <p:xfrm>
          <a:off x="395536" y="476673"/>
          <a:ext cx="8420735" cy="5544616"/>
        </p:xfrm>
        <a:graphic>
          <a:graphicData uri="http://schemas.openxmlformats.org/drawingml/2006/table">
            <a:tbl>
              <a:tblPr firstRow="1" bandRow="1">
                <a:tableStyleId>{F5AB1C69-6EDB-4FF4-983F-18BD219EF322}</a:tableStyleId>
              </a:tblPr>
              <a:tblGrid>
                <a:gridCol w="575945">
                  <a:extLst>
                    <a:ext uri="{9D8B030D-6E8A-4147-A177-3AD203B41FA5}">
                      <a16:colId xmlns="" xmlns:a16="http://schemas.microsoft.com/office/drawing/2014/main" val="20000"/>
                    </a:ext>
                  </a:extLst>
                </a:gridCol>
                <a:gridCol w="2604135">
                  <a:extLst>
                    <a:ext uri="{9D8B030D-6E8A-4147-A177-3AD203B41FA5}">
                      <a16:colId xmlns="" xmlns:a16="http://schemas.microsoft.com/office/drawing/2014/main" val="20001"/>
                    </a:ext>
                  </a:extLst>
                </a:gridCol>
                <a:gridCol w="1026795">
                  <a:extLst>
                    <a:ext uri="{9D8B030D-6E8A-4147-A177-3AD203B41FA5}">
                      <a16:colId xmlns="" xmlns:a16="http://schemas.microsoft.com/office/drawing/2014/main" val="20002"/>
                    </a:ext>
                  </a:extLst>
                </a:gridCol>
                <a:gridCol w="1278890">
                  <a:extLst>
                    <a:ext uri="{9D8B030D-6E8A-4147-A177-3AD203B41FA5}">
                      <a16:colId xmlns="" xmlns:a16="http://schemas.microsoft.com/office/drawing/2014/main" val="20003"/>
                    </a:ext>
                  </a:extLst>
                </a:gridCol>
                <a:gridCol w="2934970">
                  <a:extLst>
                    <a:ext uri="{9D8B030D-6E8A-4147-A177-3AD203B41FA5}">
                      <a16:colId xmlns="" xmlns:a16="http://schemas.microsoft.com/office/drawing/2014/main" val="20004"/>
                    </a:ext>
                  </a:extLst>
                </a:gridCol>
              </a:tblGrid>
              <a:tr h="1080120">
                <a:tc>
                  <a:txBody>
                    <a:bodyPr/>
                    <a:lstStyle/>
                    <a:p>
                      <a:r>
                        <a:rPr lang="en-IN" dirty="0"/>
                        <a:t>S</a:t>
                      </a:r>
                      <a:r>
                        <a:rPr lang="en-CA" altLang="en-IN" dirty="0"/>
                        <a:t>r</a:t>
                      </a:r>
                      <a:r>
                        <a:rPr lang="en-IN" dirty="0"/>
                        <a:t>. No.</a:t>
                      </a:r>
                    </a:p>
                  </a:txBody>
                  <a:tcPr/>
                </a:tc>
                <a:tc>
                  <a:txBody>
                    <a:bodyPr/>
                    <a:lstStyle/>
                    <a:p>
                      <a:r>
                        <a:rPr lang="en-IN" dirty="0"/>
                        <a:t>Paper Title</a:t>
                      </a:r>
                    </a:p>
                  </a:txBody>
                  <a:tcPr/>
                </a:tc>
                <a:tc>
                  <a:txBody>
                    <a:bodyPr/>
                    <a:lstStyle/>
                    <a:p>
                      <a:r>
                        <a:rPr lang="en-IN" dirty="0" smtClean="0"/>
                        <a:t>Year</a:t>
                      </a:r>
                      <a:endParaRPr lang="en-IN" dirty="0"/>
                    </a:p>
                  </a:txBody>
                  <a:tcPr/>
                </a:tc>
                <a:tc>
                  <a:txBody>
                    <a:bodyPr/>
                    <a:lstStyle/>
                    <a:p>
                      <a:r>
                        <a:rPr lang="en-IN" dirty="0" smtClean="0"/>
                        <a:t>Method</a:t>
                      </a:r>
                      <a:endParaRPr lang="en-IN" dirty="0"/>
                    </a:p>
                  </a:txBody>
                  <a:tcPr/>
                </a:tc>
                <a:tc>
                  <a:txBody>
                    <a:bodyPr/>
                    <a:lstStyle/>
                    <a:p>
                      <a:r>
                        <a:rPr lang="en-US" altLang="en-IN" dirty="0"/>
                        <a:t>Outcomes</a:t>
                      </a:r>
                    </a:p>
                  </a:txBody>
                  <a:tcPr/>
                </a:tc>
                <a:extLst>
                  <a:ext uri="{0D108BD9-81ED-4DB2-BD59-A6C34878D82A}">
                    <a16:rowId xmlns="" xmlns:a16="http://schemas.microsoft.com/office/drawing/2014/main" val="10000"/>
                  </a:ext>
                </a:extLst>
              </a:tr>
              <a:tr h="800079">
                <a:tc>
                  <a:txBody>
                    <a:bodyPr/>
                    <a:lstStyle/>
                    <a:p>
                      <a:r>
                        <a:rPr lang="en-IN" dirty="0"/>
                        <a:t>1</a:t>
                      </a:r>
                    </a:p>
                  </a:txBody>
                  <a:tcPr/>
                </a:tc>
                <a:tc>
                  <a:txBody>
                    <a:bodyPr/>
                    <a:lstStyle/>
                    <a:p>
                      <a:r>
                        <a:rPr lang="en-US" sz="1400" dirty="0" smtClean="0"/>
                        <a:t>Libraries Perception Towards Cloud Computing</a:t>
                      </a:r>
                      <a:endParaRPr lang="en-US" altLang="en-IN" sz="1400" baseline="30000" dirty="0">
                        <a:latin typeface="Calibri" panose="020F0502020204030204" pitchFamily="34" charset="0"/>
                        <a:cs typeface="Calibri" panose="020F0502020204030204" pitchFamily="34" charset="0"/>
                      </a:endParaRPr>
                    </a:p>
                  </a:txBody>
                  <a:tcPr/>
                </a:tc>
                <a:tc>
                  <a:txBody>
                    <a:bodyPr/>
                    <a:lstStyle/>
                    <a:p>
                      <a:r>
                        <a:rPr lang="en-US" altLang="en-IN" sz="1400" dirty="0" smtClean="0">
                          <a:latin typeface="Calibri" panose="020F0502020204030204" pitchFamily="34" charset="0"/>
                          <a:cs typeface="Calibri" panose="020F0502020204030204" pitchFamily="34" charset="0"/>
                        </a:rPr>
                        <a:t>2013</a:t>
                      </a:r>
                      <a:endParaRPr lang="en-US" altLang="en-IN" sz="1400" dirty="0">
                        <a:latin typeface="Calibri" panose="020F0502020204030204" pitchFamily="34" charset="0"/>
                        <a:cs typeface="Calibri" panose="020F0502020204030204" pitchFamily="34" charset="0"/>
                      </a:endParaRPr>
                    </a:p>
                  </a:txBody>
                  <a:tcPr/>
                </a:tc>
                <a:tc>
                  <a:txBody>
                    <a:bodyPr/>
                    <a:lstStyle/>
                    <a:p>
                      <a:r>
                        <a:rPr lang="en-US" sz="1400" dirty="0" smtClean="0"/>
                        <a:t>Survey</a:t>
                      </a:r>
                      <a:endParaRPr lang="en-US" altLang="en-IN" sz="1400" dirty="0">
                        <a:latin typeface="Calibri" panose="020F0502020204030204" pitchFamily="34" charset="0"/>
                        <a:cs typeface="Calibri" panose="020F0502020204030204" pitchFamily="34" charset="0"/>
                      </a:endParaRPr>
                    </a:p>
                  </a:txBody>
                  <a:tcPr/>
                </a:tc>
                <a:tc>
                  <a:txBody>
                    <a:bodyPr/>
                    <a:lstStyle/>
                    <a:p>
                      <a:r>
                        <a:rPr lang="en-US" sz="1400" dirty="0" smtClean="0"/>
                        <a:t>Cloud improves library services; privacy is a major concern.</a:t>
                      </a:r>
                      <a:endParaRPr lang="en-US" altLang="en-IN"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1"/>
                  </a:ext>
                </a:extLst>
              </a:tr>
              <a:tr h="936104">
                <a:tc>
                  <a:txBody>
                    <a:bodyPr/>
                    <a:lstStyle/>
                    <a:p>
                      <a:r>
                        <a:rPr lang="en-IN" dirty="0"/>
                        <a:t>2</a:t>
                      </a:r>
                    </a:p>
                  </a:txBody>
                  <a:tcPr/>
                </a:tc>
                <a:tc>
                  <a:txBody>
                    <a:bodyPr/>
                    <a:lstStyle/>
                    <a:p>
                      <a:r>
                        <a:rPr lang="en-US" sz="1400" dirty="0" smtClean="0"/>
                        <a:t>Cloud Based Library Software as a Service – </a:t>
                      </a:r>
                      <a:r>
                        <a:rPr lang="en-US" sz="1400" dirty="0" err="1" smtClean="0"/>
                        <a:t>EZproxy</a:t>
                      </a:r>
                      <a:endParaRPr lang="en-US" altLang="en-IN" sz="1400" baseline="30000" dirty="0">
                        <a:latin typeface="Calibri" panose="020F0502020204030204" pitchFamily="34" charset="0"/>
                        <a:cs typeface="Calibri" panose="020F0502020204030204" pitchFamily="34" charset="0"/>
                      </a:endParaRPr>
                    </a:p>
                  </a:txBody>
                  <a:tcPr/>
                </a:tc>
                <a:tc>
                  <a:txBody>
                    <a:bodyPr/>
                    <a:lstStyle/>
                    <a:p>
                      <a:r>
                        <a:rPr lang="en-CA" altLang="en-IN" sz="1400" dirty="0" smtClean="0">
                          <a:latin typeface="Calibri" panose="020F0502020204030204" pitchFamily="34" charset="0"/>
                          <a:cs typeface="Calibri" panose="020F0502020204030204" pitchFamily="34" charset="0"/>
                        </a:rPr>
                        <a:t>2015</a:t>
                      </a:r>
                      <a:endParaRPr lang="en-US" altLang="en-IN" sz="1400" dirty="0">
                        <a:latin typeface="Calibri" panose="020F0502020204030204" pitchFamily="34" charset="0"/>
                        <a:cs typeface="Calibri" panose="020F0502020204030204" pitchFamily="34" charset="0"/>
                      </a:endParaRPr>
                    </a:p>
                  </a:txBody>
                  <a:tcPr/>
                </a:tc>
                <a:tc>
                  <a:txBody>
                    <a:bodyPr/>
                    <a:lstStyle/>
                    <a:p>
                      <a:r>
                        <a:rPr lang="en-US" sz="1400" dirty="0" smtClean="0"/>
                        <a:t>Case Study</a:t>
                      </a:r>
                      <a:endParaRPr lang="en-US" altLang="en-IN" sz="1400" dirty="0">
                        <a:latin typeface="Calibri" panose="020F0502020204030204" pitchFamily="34" charset="0"/>
                        <a:cs typeface="Calibri" panose="020F0502020204030204" pitchFamily="34" charset="0"/>
                      </a:endParaRPr>
                    </a:p>
                  </a:txBody>
                  <a:tcPr/>
                </a:tc>
                <a:tc>
                  <a:txBody>
                    <a:bodyPr/>
                    <a:lstStyle/>
                    <a:p>
                      <a:r>
                        <a:rPr lang="en-US" sz="1400" dirty="0" smtClean="0"/>
                        <a:t>Remote access and cloud services reduce local infrastructure dependency.</a:t>
                      </a:r>
                      <a:endParaRPr lang="en-US" altLang="en-IN"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2"/>
                  </a:ext>
                </a:extLst>
              </a:tr>
              <a:tr h="864096">
                <a:tc>
                  <a:txBody>
                    <a:bodyPr/>
                    <a:lstStyle/>
                    <a:p>
                      <a:r>
                        <a:rPr lang="en-IN" dirty="0"/>
                        <a:t>3</a:t>
                      </a:r>
                    </a:p>
                  </a:txBody>
                  <a:tcPr/>
                </a:tc>
                <a:tc>
                  <a:txBody>
                    <a:bodyPr/>
                    <a:lstStyle/>
                    <a:p>
                      <a:r>
                        <a:rPr lang="en-US" sz="1400" dirty="0" smtClean="0"/>
                        <a:t>Systematic Review of Cloud Computing in Libraries</a:t>
                      </a:r>
                      <a:endParaRPr lang="en-US" altLang="en-IN" sz="1400" baseline="30000" dirty="0">
                        <a:latin typeface="Calibri" panose="020F0502020204030204" pitchFamily="34" charset="0"/>
                        <a:cs typeface="Calibri" panose="020F0502020204030204" pitchFamily="34" charset="0"/>
                      </a:endParaRPr>
                    </a:p>
                  </a:txBody>
                  <a:tcPr/>
                </a:tc>
                <a:tc>
                  <a:txBody>
                    <a:bodyPr/>
                    <a:lstStyle/>
                    <a:p>
                      <a:r>
                        <a:rPr lang="en-IN" altLang="en-US" sz="1400" dirty="0" smtClean="0">
                          <a:latin typeface="Calibri" panose="020F0502020204030204" pitchFamily="34" charset="0"/>
                          <a:cs typeface="Calibri" panose="020F0502020204030204" pitchFamily="34" charset="0"/>
                        </a:rPr>
                        <a:t>2023</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Systematic Review</a:t>
                      </a:r>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Scalability, flexibility and accessibility improve; security remains a challenge.</a:t>
                      </a:r>
                      <a:endParaRPr lang="en-IN"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3"/>
                  </a:ext>
                </a:extLst>
              </a:tr>
              <a:tr h="973046">
                <a:tc>
                  <a:txBody>
                    <a:bodyPr/>
                    <a:lstStyle/>
                    <a:p>
                      <a:r>
                        <a:rPr lang="en-IN" dirty="0"/>
                        <a:t>4</a:t>
                      </a:r>
                    </a:p>
                  </a:txBody>
                  <a:tcPr/>
                </a:tc>
                <a:tc>
                  <a:txBody>
                    <a:bodyPr/>
                    <a:lstStyle/>
                    <a:p>
                      <a:r>
                        <a:rPr lang="en-US" sz="1400" dirty="0" smtClean="0"/>
                        <a:t>Adoption and Uses of Cloud Computing in Academic Libraries</a:t>
                      </a:r>
                      <a:endParaRPr lang="en-US" altLang="en-IN" sz="1400" baseline="30000" dirty="0">
                        <a:latin typeface="Calibri" panose="020F0502020204030204" pitchFamily="34" charset="0"/>
                        <a:cs typeface="Calibri" panose="020F0502020204030204" pitchFamily="34" charset="0"/>
                        <a:sym typeface="+mn-ea"/>
                      </a:endParaRPr>
                    </a:p>
                  </a:txBody>
                  <a:tcPr/>
                </a:tc>
                <a:tc>
                  <a:txBody>
                    <a:bodyPr/>
                    <a:lstStyle/>
                    <a:p>
                      <a:r>
                        <a:rPr lang="en-IN" altLang="en-US" sz="1400" dirty="0" smtClean="0">
                          <a:latin typeface="Calibri" panose="020F0502020204030204" pitchFamily="34" charset="0"/>
                          <a:cs typeface="Calibri" panose="020F0502020204030204" pitchFamily="34" charset="0"/>
                          <a:sym typeface="+mn-ea"/>
                        </a:rPr>
                        <a:t>2024</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PRISMA Review</a:t>
                      </a:r>
                      <a:r>
                        <a:rPr lang="en-IN" sz="1400" dirty="0" smtClean="0">
                          <a:sym typeface="+mn-ea"/>
                        </a:rPr>
                        <a:t> </a:t>
                      </a:r>
                      <a:endParaRPr lang="en-IN" sz="1400" dirty="0"/>
                    </a:p>
                    <a:p>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Cloud storage and digital libraries are growing due to scalability and cost benefits.</a:t>
                      </a:r>
                      <a:endParaRPr lang="en-IN"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4"/>
                  </a:ext>
                </a:extLst>
              </a:tr>
              <a:tr h="891171">
                <a:tc>
                  <a:txBody>
                    <a:bodyPr/>
                    <a:lstStyle/>
                    <a:p>
                      <a:r>
                        <a:rPr lang="en-IN" dirty="0"/>
                        <a:t>5</a:t>
                      </a:r>
                    </a:p>
                  </a:txBody>
                  <a:tcPr/>
                </a:tc>
                <a:tc>
                  <a:txBody>
                    <a:bodyPr/>
                    <a:lstStyle/>
                    <a:p>
                      <a:r>
                        <a:rPr lang="en-US" sz="1400" dirty="0" smtClean="0"/>
                        <a:t>Cloud-Based Adoption Model for Digital Preservation</a:t>
                      </a:r>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altLang="en-US" sz="1400" dirty="0" smtClean="0">
                          <a:latin typeface="Calibri" panose="020F0502020204030204" pitchFamily="34" charset="0"/>
                          <a:cs typeface="Calibri" panose="020F0502020204030204" pitchFamily="34" charset="0"/>
                        </a:rPr>
                        <a:t>2025</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Literature Review</a:t>
                      </a:r>
                      <a:endParaRPr lang="en-IN" sz="1400" dirty="0">
                        <a:latin typeface="Calibri" panose="020F0502020204030204" pitchFamily="34" charset="0"/>
                        <a:cs typeface="Calibri" panose="020F0502020204030204" pitchFamily="34" charset="0"/>
                      </a:endParaRPr>
                    </a:p>
                  </a:txBody>
                  <a:tcPr/>
                </a:tc>
                <a:tc>
                  <a:txBody>
                    <a:bodyPr/>
                    <a:lstStyle/>
                    <a:p>
                      <a:r>
                        <a:rPr lang="en-US" sz="1400" dirty="0" smtClean="0"/>
                        <a:t>Reliability, compatibility, migration and organizational readiness are important.</a:t>
                      </a:r>
                      <a:endParaRPr lang="en-IN"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980728"/>
            <a:ext cx="6347713" cy="949672"/>
          </a:xfrm>
        </p:spPr>
        <p:txBody>
          <a:bodyPr/>
          <a:lstStyle/>
          <a:p>
            <a:r>
              <a:rPr lang="en-IN" sz="3600" dirty="0">
                <a:latin typeface="Calibri" panose="020F0502020204030204" pitchFamily="34" charset="0"/>
                <a:cs typeface="Calibri" panose="020F0502020204030204" pitchFamily="34" charset="0"/>
              </a:rPr>
              <a:t>Research </a:t>
            </a:r>
            <a:r>
              <a:rPr lang="en-IN" sz="3600" dirty="0" smtClean="0">
                <a:latin typeface="Calibri" panose="020F0502020204030204" pitchFamily="34" charset="0"/>
                <a:cs typeface="Calibri" panose="020F0502020204030204" pitchFamily="34" charset="0"/>
              </a:rPr>
              <a:t>Gap</a:t>
            </a:r>
            <a:endParaRPr lang="en-IN" altLang="en-IN" sz="3600" baseline="30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99592" y="2132856"/>
            <a:ext cx="7488832" cy="4176464"/>
          </a:xfrm>
        </p:spPr>
        <p:txBody>
          <a:bodyPr>
            <a:normAutofit/>
          </a:bodyPr>
          <a:lstStyle/>
          <a:p>
            <a:r>
              <a:rPr lang="en-US" sz="1600" dirty="0"/>
              <a:t>• Existing studies mainly focus on cloud adoption, library automation and institutional library services rather than a simple user-oriented digital book platform.</a:t>
            </a:r>
          </a:p>
          <a:p>
            <a:r>
              <a:rPr lang="en-US" sz="1600" dirty="0"/>
              <a:t>• Security, privacy, interoperability and reliable cloud storage remain important challenges in cloud-based libraries. </a:t>
            </a:r>
          </a:p>
          <a:p>
            <a:r>
              <a:rPr lang="en-US" sz="1600" dirty="0"/>
              <a:t>• There is a need for an integrated platform providing digital book storage, search, category filtering, online reading and controlled downloading.</a:t>
            </a:r>
          </a:p>
          <a:p>
            <a:r>
              <a:rPr lang="en-US" sz="1600" dirty="0"/>
              <a:t>• </a:t>
            </a:r>
            <a:r>
              <a:rPr lang="en-US" sz="1600" b="1" dirty="0" err="1"/>
              <a:t>CloudRead</a:t>
            </a:r>
            <a:r>
              <a:rPr lang="en-US" sz="1600" b="1" dirty="0"/>
              <a:t> addresses this gap by providing a cloud-based digital library with user authentication, book management, search functionality and scalable cloud storage.</a:t>
            </a:r>
            <a:r>
              <a:rPr lang="en-US" sz="1600" dirty="0"/>
              <a:t> </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80728"/>
            <a:ext cx="6347713" cy="949672"/>
          </a:xfrm>
        </p:spPr>
        <p:txBody>
          <a:bodyPr>
            <a:normAutofit/>
          </a:bodyPr>
          <a:lstStyle/>
          <a:p>
            <a:r>
              <a:rPr lang="en-IN" sz="3600" dirty="0">
                <a:latin typeface="Calibri" panose="020F0502020204030204" pitchFamily="34" charset="0"/>
                <a:cs typeface="Calibri" panose="020F0502020204030204" pitchFamily="34" charset="0"/>
              </a:rPr>
              <a:t>Problem </a:t>
            </a:r>
            <a:r>
              <a:rPr lang="en-IN" sz="3600" dirty="0" err="1" smtClean="0">
                <a:latin typeface="Calibri" panose="020F0502020204030204" pitchFamily="34" charset="0"/>
                <a:cs typeface="Calibri" panose="020F0502020204030204" pitchFamily="34" charset="0"/>
              </a:rPr>
              <a:t>StatemenT</a:t>
            </a:r>
            <a:endParaRPr lang="en-IN" sz="36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11560" y="2132732"/>
            <a:ext cx="7806631" cy="4023360"/>
          </a:xfrm>
        </p:spPr>
        <p:txBody>
          <a:bodyPr vert="horz" lIns="45720" tIns="45720" rIns="45720" bIns="45720" rtlCol="0" anchor="t">
            <a:normAutofit/>
          </a:bodyPr>
          <a:lstStyle/>
          <a:p>
            <a:pPr algn="just">
              <a:buFont typeface="Arial" panose="020B0604020202020204" pitchFamily="34" charset="0"/>
              <a:buChar char="•"/>
            </a:pPr>
            <a:r>
              <a:rPr lang="en-US" b="1" dirty="0" smtClean="0"/>
              <a:t> Limited </a:t>
            </a:r>
            <a:r>
              <a:rPr lang="en-US" b="1" dirty="0"/>
              <a:t>Storage:</a:t>
            </a:r>
            <a:r>
              <a:rPr lang="en-US" dirty="0"/>
              <a:t> Physical libraries require considerable space to store books. </a:t>
            </a:r>
            <a:endParaRPr lang="en-US" dirty="0" smtClean="0"/>
          </a:p>
          <a:p>
            <a:pPr algn="just">
              <a:buFont typeface="Arial" panose="020B0604020202020204" pitchFamily="34" charset="0"/>
              <a:buChar char="•"/>
            </a:pPr>
            <a:r>
              <a:rPr lang="en-US" b="1" dirty="0" smtClean="0"/>
              <a:t> Restricted </a:t>
            </a:r>
            <a:r>
              <a:rPr lang="en-US" b="1" dirty="0"/>
              <a:t>Access:</a:t>
            </a:r>
            <a:r>
              <a:rPr lang="en-US" dirty="0"/>
              <a:t> Users can access books only during library operating hours. </a:t>
            </a:r>
            <a:endParaRPr lang="en-US" dirty="0" smtClean="0"/>
          </a:p>
          <a:p>
            <a:pPr algn="just">
              <a:buFont typeface="Arial" panose="020B0604020202020204" pitchFamily="34" charset="0"/>
              <a:buChar char="•"/>
            </a:pPr>
            <a:r>
              <a:rPr lang="en-US" b="1" dirty="0" smtClean="0"/>
              <a:t> Maintenance </a:t>
            </a:r>
            <a:r>
              <a:rPr lang="en-US" b="1" dirty="0"/>
              <a:t>Cost:</a:t>
            </a:r>
            <a:r>
              <a:rPr lang="en-US" dirty="0"/>
              <a:t> Physical books require maintenance and infrastructure. </a:t>
            </a:r>
            <a:endParaRPr lang="en-US" dirty="0" smtClean="0"/>
          </a:p>
          <a:p>
            <a:pPr algn="just">
              <a:buFont typeface="Arial" panose="020B0604020202020204" pitchFamily="34" charset="0"/>
              <a:buChar char="•"/>
            </a:pPr>
            <a:r>
              <a:rPr lang="en-US" b="1" dirty="0" smtClean="0"/>
              <a:t> Difficult </a:t>
            </a:r>
            <a:r>
              <a:rPr lang="en-US" b="1" dirty="0"/>
              <a:t>Management:</a:t>
            </a:r>
            <a:r>
              <a:rPr lang="en-US" dirty="0"/>
              <a:t> Managing a large number of books manually is difficult. </a:t>
            </a:r>
            <a:endParaRPr lang="en-US" dirty="0" smtClean="0"/>
          </a:p>
          <a:p>
            <a:pPr algn="just">
              <a:buFont typeface="Arial" panose="020B0604020202020204" pitchFamily="34" charset="0"/>
              <a:buChar char="•"/>
            </a:pPr>
            <a:r>
              <a:rPr lang="en-US" b="1" dirty="0" smtClean="0"/>
              <a:t> Limited </a:t>
            </a:r>
            <a:r>
              <a:rPr lang="en-US" b="1" dirty="0"/>
              <a:t>Accessibility:</a:t>
            </a:r>
            <a:r>
              <a:rPr lang="en-US" dirty="0"/>
              <a:t> Users generally need to visit the library to access books. </a:t>
            </a:r>
            <a:endParaRPr lang="en-US" dirty="0" smtClean="0"/>
          </a:p>
          <a:p>
            <a:pPr algn="just">
              <a:buFont typeface="Arial" panose="020B0604020202020204" pitchFamily="34" charset="0"/>
              <a:buChar char="•"/>
            </a:pPr>
            <a:r>
              <a:rPr lang="en-US" b="1" dirty="0" smtClean="0"/>
              <a:t> Slow </a:t>
            </a:r>
            <a:r>
              <a:rPr lang="en-US" b="1" dirty="0"/>
              <a:t>Search:</a:t>
            </a:r>
            <a:r>
              <a:rPr lang="en-US" dirty="0"/>
              <a:t> Finding books manually can consume time.</a:t>
            </a:r>
            <a:endParaRPr lang="en-US" altLang="en-IN" dirty="0">
              <a:latin typeface="Calibri" panose="020F0502020204030204" pitchFamily="34" charset="0"/>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83" y="620688"/>
            <a:ext cx="7290054" cy="1499616"/>
          </a:xfrm>
        </p:spPr>
        <p:txBody>
          <a:bodyPr>
            <a:normAutofit/>
          </a:bodyPr>
          <a:lstStyle/>
          <a:p>
            <a:r>
              <a:rPr lang="en-US" sz="3200" dirty="0" smtClean="0">
                <a:latin typeface="Calibri" panose="020F0502020204030204" pitchFamily="34" charset="0"/>
                <a:cs typeface="Calibri" panose="020F0502020204030204" pitchFamily="34" charset="0"/>
              </a:rPr>
              <a:t>SYSTEM IMPLEMENTATION</a:t>
            </a:r>
            <a:endParaRPr lang="en-US" sz="32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99592" y="1914035"/>
            <a:ext cx="7290055" cy="4536544"/>
          </a:xfrm>
        </p:spPr>
        <p:txBody>
          <a:bodyPr/>
          <a:lstStyle/>
          <a:p>
            <a:pPr marL="0" indent="0">
              <a:buNone/>
            </a:pPr>
            <a:r>
              <a:rPr lang="en-US" b="1" dirty="0" smtClean="0">
                <a:latin typeface="Calibri" panose="020F0502020204030204" pitchFamily="34" charset="0"/>
                <a:cs typeface="Calibri" panose="020F0502020204030204" pitchFamily="34" charset="0"/>
              </a:rPr>
              <a:t>FRONTEND:</a:t>
            </a:r>
            <a:endParaRPr lang="en-US" b="1" dirty="0">
              <a:latin typeface="Calibri" panose="020F0502020204030204" pitchFamily="34" charset="0"/>
              <a:cs typeface="Calibri" panose="020F0502020204030204" pitchFamily="34" charset="0"/>
            </a:endParaRPr>
          </a:p>
          <a:p>
            <a:pPr marL="0" indent="0">
              <a:buNone/>
            </a:pPr>
            <a:r>
              <a:rPr lang="en-US" dirty="0" smtClean="0">
                <a:latin typeface="Calibri" panose="020F0502020204030204" pitchFamily="34" charset="0"/>
                <a:cs typeface="Calibri" panose="020F0502020204030204" pitchFamily="34" charset="0"/>
              </a:rPr>
              <a:t>-&gt;  React.js</a:t>
            </a:r>
            <a:endParaRPr lang="en-US" dirty="0">
              <a:latin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    (Responsive UI for users and admins)</a:t>
            </a:r>
            <a:endParaRPr lang="en-US" dirty="0">
              <a:latin typeface="Calibri" panose="020F0502020204030204" pitchFamily="34" charset="0"/>
              <a:cs typeface="Calibri" panose="020F0502020204030204" pitchFamily="34" charset="0"/>
            </a:endParaRPr>
          </a:p>
          <a:p>
            <a:pPr marL="0" indent="0">
              <a:buNone/>
            </a:pPr>
            <a:r>
              <a:rPr lang="en-US" b="1" dirty="0" smtClean="0">
                <a:latin typeface="Calibri" panose="020F0502020204030204" pitchFamily="34" charset="0"/>
                <a:cs typeface="Calibri" panose="020F0502020204030204" pitchFamily="34" charset="0"/>
              </a:rPr>
              <a:t>BACKEND:</a:t>
            </a:r>
            <a:endParaRPr lang="en-US" b="1" dirty="0">
              <a:latin typeface="Calibri" panose="020F0502020204030204" pitchFamily="34" charset="0"/>
              <a:cs typeface="Calibri" panose="020F0502020204030204" pitchFamily="34" charset="0"/>
            </a:endParaRPr>
          </a:p>
          <a:p>
            <a:pPr marL="0" indent="0">
              <a:buNone/>
            </a:pPr>
            <a:r>
              <a:rPr lang="en-US" dirty="0" smtClean="0">
                <a:latin typeface="Calibri" panose="020F0502020204030204" pitchFamily="34" charset="0"/>
                <a:cs typeface="Calibri" panose="020F0502020204030204" pitchFamily="34" charset="0"/>
              </a:rPr>
              <a:t>-&gt; Node.js</a:t>
            </a:r>
            <a:endParaRPr lang="en-US" dirty="0">
              <a:latin typeface="Calibri" panose="020F0502020204030204" pitchFamily="34" charset="0"/>
              <a:cs typeface="Calibri" panose="020F0502020204030204" pitchFamily="34" charset="0"/>
            </a:endParaRPr>
          </a:p>
          <a:p>
            <a:pPr marL="0" indent="0">
              <a:buNone/>
            </a:pPr>
            <a:r>
              <a:rPr lang="en-US" dirty="0" smtClean="0">
                <a:latin typeface="Calibri" panose="020F0502020204030204" pitchFamily="34" charset="0"/>
                <a:cs typeface="Calibri" panose="020F0502020204030204" pitchFamily="34" charset="0"/>
              </a:rPr>
              <a:t>    (Handles requests, authentication and logic) </a:t>
            </a:r>
          </a:p>
          <a:p>
            <a:pPr marL="0" indent="0">
              <a:buNone/>
            </a:pPr>
            <a:r>
              <a:rPr lang="en-US" b="1" dirty="0" smtClean="0">
                <a:latin typeface="Calibri" panose="020F0502020204030204" pitchFamily="34" charset="0"/>
                <a:cs typeface="Calibri" panose="020F0502020204030204" pitchFamily="34" charset="0"/>
              </a:rPr>
              <a:t>DATABASE:</a:t>
            </a:r>
          </a:p>
          <a:p>
            <a:pPr marL="0" indent="0">
              <a:buNone/>
            </a:pPr>
            <a:r>
              <a:rPr lang="en-US" dirty="0" smtClean="0">
                <a:latin typeface="Calibri" panose="020F0502020204030204" pitchFamily="34" charset="0"/>
                <a:cs typeface="Calibri" panose="020F0502020204030204" pitchFamily="34" charset="0"/>
              </a:rPr>
              <a:t>-&gt; MySQL / MongoDB / Firebase</a:t>
            </a:r>
          </a:p>
          <a:p>
            <a:pPr marL="0" indent="0">
              <a:buNone/>
            </a:pPr>
            <a:r>
              <a:rPr lang="en-US" b="1" dirty="0" smtClean="0">
                <a:latin typeface="Calibri" panose="020F0502020204030204" pitchFamily="34" charset="0"/>
                <a:cs typeface="Calibri" panose="020F0502020204030204" pitchFamily="34" charset="0"/>
              </a:rPr>
              <a:t>CLOUD SERVICES:</a:t>
            </a:r>
          </a:p>
          <a:p>
            <a:pPr marL="0" indent="0">
              <a:buNone/>
            </a:pPr>
            <a:r>
              <a:rPr lang="en-US" dirty="0" smtClean="0">
                <a:latin typeface="Calibri" panose="020F0502020204030204" pitchFamily="34" charset="0"/>
                <a:cs typeface="Calibri" panose="020F0502020204030204" pitchFamily="34" charset="0"/>
              </a:rPr>
              <a:t>-&gt; AWS / Google Cloud / Azure</a:t>
            </a: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41" y="764921"/>
            <a:ext cx="7290054" cy="1499616"/>
          </a:xfrm>
        </p:spPr>
        <p:txBody>
          <a:bodyPr>
            <a:normAutofit/>
          </a:bodyPr>
          <a:lstStyle/>
          <a:p>
            <a:r>
              <a:rPr lang="en-US" sz="3200" b="1" dirty="0">
                <a:latin typeface="Calibri" panose="020F0502020204030204" pitchFamily="34" charset="0"/>
                <a:cs typeface="Calibri" panose="020F0502020204030204" pitchFamily="34" charset="0"/>
                <a:sym typeface="+mn-ea"/>
              </a:rPr>
              <a:t>Data Set Description</a:t>
            </a:r>
            <a:r>
              <a:rPr lang="en-US" sz="3200" b="1" baseline="30000" dirty="0">
                <a:latin typeface="Calibri" panose="020F0502020204030204" pitchFamily="34" charset="0"/>
                <a:cs typeface="Calibri" panose="020F0502020204030204" pitchFamily="34" charset="0"/>
                <a:sym typeface="+mn-ea"/>
              </a:rPr>
              <a:t>[5]</a:t>
            </a:r>
            <a:endParaRPr lang="en-CA" altLang="en-US" sz="32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9</a:t>
            </a:fld>
            <a:endParaRPr lang="en-US"/>
          </a:p>
        </p:txBody>
      </p:sp>
      <p:graphicFrame>
        <p:nvGraphicFramePr>
          <p:cNvPr id="16" name="Content Placeholder 15"/>
          <p:cNvGraphicFramePr>
            <a:graphicFrameLocks noGrp="1"/>
          </p:cNvGraphicFramePr>
          <p:nvPr>
            <p:ph idx="1"/>
          </p:nvPr>
        </p:nvGraphicFramePr>
        <p:xfrm>
          <a:off x="554547" y="1844824"/>
          <a:ext cx="8320116" cy="4681220"/>
        </p:xfrm>
        <a:graphic>
          <a:graphicData uri="http://schemas.openxmlformats.org/drawingml/2006/table">
            <a:tbl>
              <a:tblPr firstRow="1" bandRow="1">
                <a:tableStyleId>{5C22544A-7EE6-4342-B048-85BDC9FD1C3A}</a:tableStyleId>
              </a:tblPr>
              <a:tblGrid>
                <a:gridCol w="2348015">
                  <a:extLst>
                    <a:ext uri="{9D8B030D-6E8A-4147-A177-3AD203B41FA5}">
                      <a16:colId xmlns="" xmlns:a16="http://schemas.microsoft.com/office/drawing/2014/main" val="20000"/>
                    </a:ext>
                  </a:extLst>
                </a:gridCol>
                <a:gridCol w="1702497">
                  <a:extLst>
                    <a:ext uri="{9D8B030D-6E8A-4147-A177-3AD203B41FA5}">
                      <a16:colId xmlns="" xmlns:a16="http://schemas.microsoft.com/office/drawing/2014/main" val="20001"/>
                    </a:ext>
                  </a:extLst>
                </a:gridCol>
                <a:gridCol w="4269604">
                  <a:extLst>
                    <a:ext uri="{9D8B030D-6E8A-4147-A177-3AD203B41FA5}">
                      <a16:colId xmlns="" xmlns:a16="http://schemas.microsoft.com/office/drawing/2014/main" val="20002"/>
                    </a:ext>
                  </a:extLst>
                </a:gridCol>
              </a:tblGrid>
              <a:tr h="361267">
                <a:tc>
                  <a:txBody>
                    <a:bodyPr/>
                    <a:lstStyle/>
                    <a:p>
                      <a:pPr>
                        <a:buNone/>
                      </a:pPr>
                      <a:r>
                        <a:rPr lang="en-CA" altLang="en-US" dirty="0">
                          <a:latin typeface="Calibri" panose="020F0502020204030204" pitchFamily="34" charset="0"/>
                          <a:cs typeface="Calibri" panose="020F0502020204030204" pitchFamily="34" charset="0"/>
                        </a:rPr>
                        <a:t>NAME</a:t>
                      </a:r>
                    </a:p>
                  </a:txBody>
                  <a:tcPr/>
                </a:tc>
                <a:tc>
                  <a:txBody>
                    <a:bodyPr/>
                    <a:lstStyle/>
                    <a:p>
                      <a:pPr>
                        <a:buNone/>
                      </a:pPr>
                      <a:r>
                        <a:rPr lang="en-CA" altLang="en-US">
                          <a:latin typeface="Calibri" panose="020F0502020204030204" pitchFamily="34" charset="0"/>
                          <a:cs typeface="Calibri" panose="020F0502020204030204" pitchFamily="34" charset="0"/>
                        </a:rPr>
                        <a:t>TYPE</a:t>
                      </a:r>
                    </a:p>
                  </a:txBody>
                  <a:tcPr/>
                </a:tc>
                <a:tc>
                  <a:txBody>
                    <a:bodyPr/>
                    <a:lstStyle/>
                    <a:p>
                      <a:pPr>
                        <a:buNone/>
                      </a:pPr>
                      <a:r>
                        <a:rPr lang="en-CA" altLang="en-US" dirty="0">
                          <a:latin typeface="Calibri" panose="020F0502020204030204" pitchFamily="34" charset="0"/>
                          <a:cs typeface="Calibri" panose="020F0502020204030204" pitchFamily="34" charset="0"/>
                        </a:rPr>
                        <a:t>DESCRIPTION</a:t>
                      </a:r>
                    </a:p>
                  </a:txBody>
                  <a:tcPr/>
                </a:tc>
                <a:extLst>
                  <a:ext uri="{0D108BD9-81ED-4DB2-BD59-A6C34878D82A}">
                    <a16:rowId xmlns="" xmlns:a16="http://schemas.microsoft.com/office/drawing/2014/main" val="10000"/>
                  </a:ext>
                </a:extLst>
              </a:tr>
              <a:tr h="301056">
                <a:tc>
                  <a:txBody>
                    <a:bodyPr/>
                    <a:lstStyle/>
                    <a:p>
                      <a:pPr>
                        <a:buNone/>
                      </a:pPr>
                      <a:r>
                        <a:rPr lang="en-CA" altLang="en-US" sz="1400">
                          <a:latin typeface="Calibri" panose="020F0502020204030204" pitchFamily="34" charset="0"/>
                          <a:cs typeface="Calibri" panose="020F0502020204030204" pitchFamily="34" charset="0"/>
                          <a:sym typeface="+mn-ea"/>
                        </a:rPr>
                        <a:t>Item_identifier</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b="0" dirty="0">
                          <a:latin typeface="Calibri" panose="020F0502020204030204" pitchFamily="34" charset="0"/>
                          <a:cs typeface="Calibri" panose="020F0502020204030204" pitchFamily="34" charset="0"/>
                        </a:rPr>
                        <a:t>Numeric</a:t>
                      </a:r>
                    </a:p>
                  </a:txBody>
                  <a:tcPr/>
                </a:tc>
                <a:tc>
                  <a:txBody>
                    <a:bodyPr/>
                    <a:lstStyle/>
                    <a:p>
                      <a:pPr>
                        <a:buNone/>
                      </a:pPr>
                      <a:r>
                        <a:rPr lang="en-IN" sz="1400" dirty="0">
                          <a:latin typeface="Calibri" panose="020F0502020204030204" pitchFamily="34" charset="0"/>
                          <a:cs typeface="Calibri" panose="020F0502020204030204" pitchFamily="34" charset="0"/>
                        </a:rPr>
                        <a:t>It is the unique product Id number.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1"/>
                  </a:ext>
                </a:extLst>
              </a:tr>
              <a:tr h="301056">
                <a:tc>
                  <a:txBody>
                    <a:bodyPr/>
                    <a:lstStyle/>
                    <a:p>
                      <a:pPr>
                        <a:buNone/>
                      </a:pPr>
                      <a:r>
                        <a:rPr lang="en-US" sz="1400">
                          <a:solidFill>
                            <a:srgbClr val="000000"/>
                          </a:solidFill>
                          <a:latin typeface="Calibri" panose="020F0502020204030204" charset="-122"/>
                          <a:sym typeface="+mn-ea"/>
                        </a:rPr>
                        <a:t>Item_Weight</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It will include the product's weight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2"/>
                  </a:ext>
                </a:extLst>
              </a:tr>
              <a:tr h="303564">
                <a:tc>
                  <a:txBody>
                    <a:bodyPr/>
                    <a:lstStyle/>
                    <a:p>
                      <a:pPr indent="0">
                        <a:buNone/>
                      </a:pPr>
                      <a:r>
                        <a:rPr lang="en-US" sz="1400">
                          <a:solidFill>
                            <a:srgbClr val="000000"/>
                          </a:solidFill>
                          <a:latin typeface="Calibri" panose="020F0502020204030204" charset="-122"/>
                          <a:sym typeface="+mn-ea"/>
                        </a:rPr>
                        <a:t>Item_Fat_Content</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rPr>
                        <a:t>categorical</a:t>
                      </a:r>
                    </a:p>
                  </a:txBody>
                  <a:tcPr/>
                </a:tc>
                <a:tc>
                  <a:txBody>
                    <a:bodyPr/>
                    <a:lstStyle/>
                    <a:p>
                      <a:pPr>
                        <a:buNone/>
                      </a:pPr>
                      <a:r>
                        <a:rPr lang="en-IN" sz="1400" dirty="0">
                          <a:latin typeface="Calibri" panose="020F0502020204030204" pitchFamily="34" charset="0"/>
                          <a:cs typeface="Calibri" panose="020F0502020204030204" pitchFamily="34" charset="0"/>
                        </a:rPr>
                        <a:t>It will mean whether the item is low in fat or not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3"/>
                  </a:ext>
                </a:extLst>
              </a:tr>
              <a:tr h="511795">
                <a:tc>
                  <a:txBody>
                    <a:bodyPr/>
                    <a:lstStyle/>
                    <a:p>
                      <a:pPr indent="0">
                        <a:buNone/>
                      </a:pPr>
                      <a:r>
                        <a:rPr lang="en-US" sz="1400" dirty="0" err="1">
                          <a:solidFill>
                            <a:srgbClr val="000000"/>
                          </a:solidFill>
                          <a:latin typeface="Calibri" panose="020F0502020204030204" charset="-122"/>
                          <a:sym typeface="+mn-ea"/>
                        </a:rPr>
                        <a:t>Item_Visibility</a:t>
                      </a:r>
                      <a:endParaRPr lang="en-US" sz="1400" b="0" dirty="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dirty="0">
                          <a:latin typeface="Calibri" panose="020F0502020204030204" pitchFamily="34" charset="0"/>
                          <a:cs typeface="Calibri" panose="020F0502020204030204" pitchFamily="34" charset="0"/>
                        </a:rPr>
                        <a:t>The percentage of the overall viewing area assigned to the particular item from all items in the shop.</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4"/>
                  </a:ext>
                </a:extLst>
              </a:tr>
              <a:tr h="303564">
                <a:tc>
                  <a:txBody>
                    <a:bodyPr/>
                    <a:lstStyle/>
                    <a:p>
                      <a:pPr indent="0">
                        <a:buNone/>
                      </a:pPr>
                      <a:r>
                        <a:rPr lang="en-US" sz="1400">
                          <a:solidFill>
                            <a:srgbClr val="000000"/>
                          </a:solidFill>
                          <a:latin typeface="Calibri" panose="020F0502020204030204" charset="-122"/>
                          <a:sym typeface="+mn-ea"/>
                        </a:rPr>
                        <a:t>Item_Type</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To which group does the commodity belong</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5"/>
                  </a:ext>
                </a:extLst>
              </a:tr>
              <a:tr h="303564">
                <a:tc>
                  <a:txBody>
                    <a:bodyPr/>
                    <a:lstStyle/>
                    <a:p>
                      <a:pPr indent="0">
                        <a:buNone/>
                      </a:pPr>
                      <a:r>
                        <a:rPr lang="en-US" sz="1400">
                          <a:solidFill>
                            <a:srgbClr val="000000"/>
                          </a:solidFill>
                          <a:latin typeface="Calibri" panose="020F0502020204030204" charset="-122"/>
                          <a:sym typeface="+mn-ea"/>
                        </a:rPr>
                        <a:t>Item_MRP</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The product's price list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6"/>
                  </a:ext>
                </a:extLst>
              </a:tr>
              <a:tr h="303564">
                <a:tc>
                  <a:txBody>
                    <a:bodyPr/>
                    <a:lstStyle/>
                    <a:p>
                      <a:pPr indent="0">
                        <a:buNone/>
                      </a:pPr>
                      <a:r>
                        <a:rPr lang="en-US" sz="1400" b="0">
                          <a:solidFill>
                            <a:srgbClr val="000000"/>
                          </a:solidFill>
                          <a:latin typeface="Calibri" panose="020F0502020204030204" charset="-122"/>
                        </a:rPr>
                        <a:t>Outlet_Identifier</a:t>
                      </a:r>
                    </a:p>
                  </a:txBody>
                  <a:tcPr marL="90170" marR="90170" marT="46990" marB="46990" anchor="ctr"/>
                </a:tc>
                <a:tc>
                  <a:txBody>
                    <a:bodyPr/>
                    <a:lstStyle/>
                    <a:p>
                      <a:pPr>
                        <a:buNone/>
                      </a:pPr>
                      <a:r>
                        <a:rPr lang="en-CA" altLang="en-US" sz="1400" dirty="0">
                          <a:latin typeface="Calibri" panose="020F0502020204030204" pitchFamily="34" charset="0"/>
                          <a:cs typeface="Calibri" panose="020F0502020204030204" pitchFamily="34" charset="0"/>
                          <a:sym typeface="+mn-ea"/>
                        </a:rPr>
                        <a:t>Numeric</a:t>
                      </a:r>
                    </a:p>
                  </a:txBody>
                  <a:tcPr/>
                </a:tc>
                <a:tc>
                  <a:txBody>
                    <a:bodyPr/>
                    <a:lstStyle/>
                    <a:p>
                      <a:pPr>
                        <a:buNone/>
                      </a:pPr>
                      <a:r>
                        <a:rPr lang="en-CA" altLang="en-US" sz="1400" dirty="0">
                          <a:latin typeface="Calibri" panose="020F0502020204030204" pitchFamily="34" charset="0"/>
                          <a:cs typeface="Calibri" panose="020F0502020204030204" pitchFamily="34" charset="0"/>
                        </a:rPr>
                        <a:t>unique store ID</a:t>
                      </a:r>
                    </a:p>
                  </a:txBody>
                  <a:tcPr/>
                </a:tc>
                <a:extLst>
                  <a:ext uri="{0D108BD9-81ED-4DB2-BD59-A6C34878D82A}">
                    <a16:rowId xmlns="" xmlns:a16="http://schemas.microsoft.com/office/drawing/2014/main" val="10007"/>
                  </a:ext>
                </a:extLst>
              </a:tr>
              <a:tr h="303564">
                <a:tc>
                  <a:txBody>
                    <a:bodyPr/>
                    <a:lstStyle/>
                    <a:p>
                      <a:pPr indent="0">
                        <a:buNone/>
                      </a:pPr>
                      <a:r>
                        <a:rPr lang="en-US" sz="1400" b="0">
                          <a:solidFill>
                            <a:srgbClr val="000000"/>
                          </a:solidFill>
                          <a:latin typeface="Calibri" panose="020F0502020204030204" charset="-122"/>
                        </a:rPr>
                        <a:t>Outlet_Establishment_Year</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year that the shop first opened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8"/>
                  </a:ext>
                </a:extLst>
              </a:tr>
              <a:tr h="303564">
                <a:tc>
                  <a:txBody>
                    <a:bodyPr/>
                    <a:lstStyle/>
                    <a:p>
                      <a:pPr indent="0">
                        <a:buNone/>
                      </a:pPr>
                      <a:r>
                        <a:rPr lang="en-US" sz="1400" b="0">
                          <a:solidFill>
                            <a:srgbClr val="000000"/>
                          </a:solidFill>
                          <a:latin typeface="Calibri" panose="020F0502020204030204" charset="-122"/>
                        </a:rPr>
                        <a:t>Outlet_Size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amount of ground space that the store occupies</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09"/>
                  </a:ext>
                </a:extLst>
              </a:tr>
              <a:tr h="303564">
                <a:tc>
                  <a:txBody>
                    <a:bodyPr/>
                    <a:lstStyle/>
                    <a:p>
                      <a:pPr indent="0">
                        <a:buNone/>
                      </a:pPr>
                      <a:r>
                        <a:rPr lang="en-US" sz="1400" b="0">
                          <a:solidFill>
                            <a:srgbClr val="000000"/>
                          </a:solidFill>
                          <a:latin typeface="Calibri" panose="020F0502020204030204" charset="-122"/>
                        </a:rPr>
                        <a:t>Outlet_Location_Type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type of city in which the store is located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10"/>
                  </a:ext>
                </a:extLst>
              </a:tr>
              <a:tr h="303564">
                <a:tc>
                  <a:txBody>
                    <a:bodyPr/>
                    <a:lstStyle/>
                    <a:p>
                      <a:pPr indent="0">
                        <a:buNone/>
                      </a:pPr>
                      <a:r>
                        <a:rPr lang="en-US" sz="1400" b="0">
                          <a:solidFill>
                            <a:srgbClr val="000000"/>
                          </a:solidFill>
                          <a:latin typeface="Calibri" panose="020F0502020204030204" charset="-122"/>
                        </a:rPr>
                        <a:t>Outlet_Type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Whether he outlet is just a grocery or some sort of supermarket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11"/>
                  </a:ext>
                </a:extLst>
              </a:tr>
              <a:tr h="511795">
                <a:tc>
                  <a:txBody>
                    <a:bodyPr/>
                    <a:lstStyle/>
                    <a:p>
                      <a:pPr indent="0">
                        <a:buNone/>
                      </a:pPr>
                      <a:r>
                        <a:rPr lang="en-US" sz="1400" b="0">
                          <a:solidFill>
                            <a:srgbClr val="000000"/>
                          </a:solidFill>
                          <a:latin typeface="Calibri" panose="020F0502020204030204" charset="-122"/>
                        </a:rPr>
                        <a:t>Item_Outlet_Sales</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Product sales at that specific store. This is the outcome variable that has to be forecast.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 xmlns:a16="http://schemas.microsoft.com/office/drawing/2014/main" val="1001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Calibri" panose="020F0502020204030204" pitchFamily="34" charset="0"/>
                <a:cs typeface="Calibri" panose="020F0502020204030204" pitchFamily="34" charset="0"/>
              </a:rPr>
              <a:t>Flow </a:t>
            </a:r>
            <a:r>
              <a:rPr lang="en-US" sz="3200" b="1" dirty="0">
                <a:latin typeface="Calibri" panose="020F0502020204030204" pitchFamily="34" charset="0"/>
                <a:cs typeface="Calibri" panose="020F0502020204030204" pitchFamily="34" charset="0"/>
              </a:rPr>
              <a:t>Chart</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10</a:t>
            </a:fld>
            <a:endParaRPr lang="en-US"/>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31640" y="1556792"/>
            <a:ext cx="6408712" cy="504056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05" y="981075"/>
            <a:ext cx="7330440" cy="1499870"/>
          </a:xfrm>
        </p:spPr>
        <p:txBody>
          <a:bodyPr vert="horz" lIns="91440" tIns="45720" rIns="91440" bIns="45720" rtlCol="0" anchor="ctr">
            <a:noAutofit/>
          </a:bodyPr>
          <a:lstStyle/>
          <a:p>
            <a:r>
              <a:rPr lang="en-US" sz="3200" dirty="0">
                <a:latin typeface="Calibri" panose="020F0502020204030204"/>
                <a:ea typeface="+mj-lt"/>
                <a:cs typeface="+mj-lt"/>
              </a:rPr>
              <a:t>Implementation with </a:t>
            </a:r>
            <a:r>
              <a:rPr lang="en-US" sz="3200" dirty="0" smtClean="0">
                <a:latin typeface="Calibri" panose="020F0502020204030204"/>
                <a:ea typeface="+mj-lt"/>
                <a:cs typeface="+mj-lt"/>
              </a:rPr>
              <a:t>Results</a:t>
            </a:r>
            <a:r>
              <a:rPr lang="en-US" sz="3600" baseline="30000" dirty="0">
                <a:latin typeface="Calibri" panose="020F0502020204030204"/>
                <a:ea typeface="+mj-lt"/>
                <a:cs typeface="+mj-lt"/>
              </a:rPr>
              <a:t/>
            </a:r>
            <a:br>
              <a:rPr lang="en-US" sz="3600" baseline="30000" dirty="0">
                <a:latin typeface="Calibri" panose="020F0502020204030204"/>
                <a:ea typeface="+mj-lt"/>
                <a:cs typeface="+mj-lt"/>
              </a:rPr>
            </a:br>
            <a:endParaRPr lang="en-US" sz="3600" dirty="0">
              <a:latin typeface="Calibri" panose="020F0502020204030204"/>
              <a:ea typeface="+mj-lt"/>
              <a:cs typeface="+mj-lt"/>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11</a:t>
            </a:fld>
            <a:endParaRPr lang="en-US"/>
          </a:p>
        </p:txBody>
      </p:sp>
      <p:sp>
        <p:nvSpPr>
          <p:cNvPr id="6" name="TextBox 5"/>
          <p:cNvSpPr txBox="1"/>
          <p:nvPr/>
        </p:nvSpPr>
        <p:spPr>
          <a:xfrm>
            <a:off x="827584" y="4621374"/>
            <a:ext cx="7891240" cy="677108"/>
          </a:xfrm>
          <a:prstGeom prst="rect">
            <a:avLst/>
          </a:prstGeom>
          <a:noFill/>
        </p:spPr>
        <p:txBody>
          <a:bodyPr wrap="square" rtlCol="0">
            <a:spAutoFit/>
          </a:bodyPr>
          <a:lstStyle/>
          <a:p>
            <a:endParaRPr lang="en-IN"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IN"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12</a:t>
            </a:fld>
            <a:endParaRPr lang="en-US" dirty="0"/>
          </a:p>
        </p:txBody>
      </p:sp>
      <p:sp>
        <p:nvSpPr>
          <p:cNvPr id="68609" name="Rectangle 1"/>
          <p:cNvSpPr>
            <a:spLocks noChangeArrowheads="1"/>
          </p:cNvSpPr>
          <p:nvPr/>
        </p:nvSpPr>
        <p:spPr bwMode="auto">
          <a:xfrm>
            <a:off x="1142976" y="1857364"/>
            <a:ext cx="7500990" cy="40011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Title 1"/>
          <p:cNvSpPr txBox="1"/>
          <p:nvPr/>
        </p:nvSpPr>
        <p:spPr>
          <a:xfrm>
            <a:off x="609600" y="980440"/>
            <a:ext cx="760730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Conclusion</a:t>
            </a:r>
            <a:r>
              <a:rPr lang="en-US" altLang="en-IN" sz="3600" dirty="0">
                <a:latin typeface="Calibri" panose="020F0502020204030204"/>
                <a:cs typeface="Calibri" panose="020F0502020204030204"/>
              </a:rPr>
              <a:t> </a:t>
            </a:r>
            <a:endParaRPr lang="en-CA" altLang="en-IN" sz="3600" dirty="0">
              <a:latin typeface="Calibri" panose="020F0502020204030204"/>
              <a:cs typeface="Calibri" panose="020F0502020204030204"/>
            </a:endParaRPr>
          </a:p>
        </p:txBody>
      </p:sp>
      <p:sp>
        <p:nvSpPr>
          <p:cNvPr id="2" name="Content Placeholder 1"/>
          <p:cNvSpPr>
            <a:spLocks noGrp="1"/>
          </p:cNvSpPr>
          <p:nvPr>
            <p:ph idx="1"/>
          </p:nvPr>
        </p:nvSpPr>
        <p:spPr>
          <a:xfrm>
            <a:off x="683568" y="1772816"/>
            <a:ext cx="8064896" cy="4536504"/>
          </a:xfrm>
        </p:spPr>
        <p:txBody>
          <a:bodyPr>
            <a:noAutofit/>
          </a:bodyPr>
          <a:lstStyle/>
          <a:p>
            <a:pPr algn="just">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en-US" dirty="0" err="1"/>
              <a:t>CloudRead</a:t>
            </a:r>
            <a:r>
              <a:rPr lang="en-US" dirty="0"/>
              <a:t> successfully demonstrates the use of cloud computing to create an accessible, scalable, and secure digital book library. It simplifies book management and enables users to access digital resources anytime and anywhere</a:t>
            </a:r>
            <a:r>
              <a:rPr lang="en-US" dirty="0" smtClean="0"/>
              <a:t>.</a:t>
            </a:r>
          </a:p>
          <a:p>
            <a:pPr marL="0" indent="0" algn="just">
              <a:buNone/>
            </a:pPr>
            <a:r>
              <a:rPr lang="en-US" b="1" dirty="0" smtClean="0">
                <a:latin typeface="Calibri" panose="020F0502020204030204" pitchFamily="34" charset="0"/>
                <a:cs typeface="Calibri" panose="020F0502020204030204" pitchFamily="34" charset="0"/>
              </a:rPr>
              <a:t>FUTURE WORK:</a:t>
            </a:r>
          </a:p>
          <a:p>
            <a:pPr marL="0" indent="0" algn="just">
              <a:buNone/>
            </a:pPr>
            <a:r>
              <a:rPr lang="en-US" dirty="0" smtClean="0"/>
              <a:t>• Mobile </a:t>
            </a:r>
            <a:r>
              <a:rPr lang="en-US" dirty="0"/>
              <a:t>application for Android and </a:t>
            </a:r>
            <a:r>
              <a:rPr lang="en-US" dirty="0" smtClean="0"/>
              <a:t>iOS</a:t>
            </a:r>
          </a:p>
          <a:p>
            <a:pPr marL="0" indent="0" algn="just">
              <a:buNone/>
            </a:pPr>
            <a:r>
              <a:rPr lang="en-US" dirty="0"/>
              <a:t>• AI-powered personalized book recommendations</a:t>
            </a:r>
            <a:endParaRPr lang="en-US" dirty="0" smtClean="0"/>
          </a:p>
          <a:p>
            <a:pPr marL="0" indent="0" algn="just">
              <a:buNone/>
            </a:pPr>
            <a:r>
              <a:rPr lang="en-US" dirty="0"/>
              <a:t>• Audiobook and multimedia support</a:t>
            </a:r>
            <a:endParaRPr lang="en-US" dirty="0" smtClean="0"/>
          </a:p>
          <a:p>
            <a:pPr marL="0" indent="0" algn="just">
              <a:buNone/>
            </a:pPr>
            <a:r>
              <a:rPr lang="en-US" dirty="0"/>
              <a:t>• Offline reading functionality</a:t>
            </a:r>
            <a:endParaRPr lang="en-US" dirty="0" smtClean="0"/>
          </a:p>
          <a:p>
            <a:pPr marL="0" indent="0" algn="just">
              <a:buNone/>
            </a:pPr>
            <a:r>
              <a:rPr lang="en-US" dirty="0"/>
              <a:t>• Multi-language book and interface support</a:t>
            </a:r>
            <a:endParaRPr lang="en-US" dirty="0" smtClean="0"/>
          </a:p>
          <a:p>
            <a:pPr marL="0" indent="0" algn="just">
              <a:buNone/>
            </a:pPr>
            <a:r>
              <a:rPr lang="en-US" dirty="0"/>
              <a:t>• Advanced security and user privacy</a:t>
            </a:r>
            <a:endParaRPr lang="en-US" dirty="0" smtClean="0"/>
          </a:p>
          <a:p>
            <a:pPr marL="0" indent="0" algn="just">
              <a:buNone/>
            </a:pPr>
            <a:r>
              <a:rPr lang="en-US" dirty="0"/>
              <a:t>• Usage analytics and intelligent library management</a:t>
            </a:r>
            <a:endParaRPr lang="en-US" b="1" dirty="0">
              <a:latin typeface="Calibri" panose="020F0502020204030204" pitchFamily="34" charset="0"/>
              <a:cs typeface="Calibri" panose="020F0502020204030204" pitchFamily="34" charset="0"/>
            </a:endParaRPr>
          </a:p>
          <a:p>
            <a:pPr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502" y="845840"/>
            <a:ext cx="7681914" cy="1143000"/>
          </a:xfrm>
        </p:spPr>
        <p:txBody>
          <a:bodyPr>
            <a:normAutofit/>
          </a:bodyPr>
          <a:lstStyle/>
          <a:p>
            <a:r>
              <a:rPr lang="en-US" sz="3600" dirty="0">
                <a:solidFill>
                  <a:schemeClr val="tx1"/>
                </a:solidFill>
                <a:effectLst/>
                <a:latin typeface="Calibri" panose="020F0502020204030204"/>
                <a:cs typeface="Calibri" panose="020F0502020204030204"/>
              </a:rPr>
              <a:t>References</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13</a:t>
            </a:fld>
            <a:endParaRPr lang="en-US" dirty="0"/>
          </a:p>
        </p:txBody>
      </p:sp>
      <p:sp>
        <p:nvSpPr>
          <p:cNvPr id="3" name="Text Box 2"/>
          <p:cNvSpPr txBox="1"/>
          <p:nvPr/>
        </p:nvSpPr>
        <p:spPr>
          <a:xfrm>
            <a:off x="755577" y="1845310"/>
            <a:ext cx="7704856" cy="3877985"/>
          </a:xfrm>
          <a:prstGeom prst="rect">
            <a:avLst/>
          </a:prstGeom>
          <a:noFill/>
        </p:spPr>
        <p:txBody>
          <a:bodyPr wrap="square" lIns="91440" tIns="45720" rIns="91440" bIns="45720" rtlCol="0" anchor="t">
            <a:spAutoFit/>
          </a:bodyPr>
          <a:lstStyle/>
          <a:p>
            <a:pPr marL="228600" indent="-228600" algn="just">
              <a:buAutoNum type="arabicPeriod"/>
            </a:pPr>
            <a:r>
              <a:rPr lang="en-US" sz="1400" dirty="0" err="1"/>
              <a:t>Rimal</a:t>
            </a:r>
            <a:r>
              <a:rPr lang="en-US" sz="1400" dirty="0"/>
              <a:t>, B. P., Choi, E., &amp; </a:t>
            </a:r>
            <a:r>
              <a:rPr lang="en-US" sz="1400" dirty="0" err="1"/>
              <a:t>Lumb</a:t>
            </a:r>
            <a:r>
              <a:rPr lang="en-US" sz="1400" dirty="0"/>
              <a:t>, I., “Cloud Computing: A Digital Libraries Perspective,” IEEE CLOUD, 2010</a:t>
            </a:r>
            <a:r>
              <a:rPr lang="en-US" sz="1400" dirty="0" smtClean="0"/>
              <a:t>.</a:t>
            </a:r>
          </a:p>
          <a:p>
            <a:pPr marL="228600" indent="-228600" algn="just">
              <a:buAutoNum type="arabicPeriod"/>
            </a:pPr>
            <a:r>
              <a:rPr lang="en-US" sz="1400" dirty="0"/>
              <a:t>Scale, M.-S. E., “Assessing the Impact of Cloud Computing and Web Collaboration on the Work of Distance Library Services,” </a:t>
            </a:r>
            <a:r>
              <a:rPr lang="en-US" sz="1400" i="1" dirty="0"/>
              <a:t>Journal of Library Administration</a:t>
            </a:r>
            <a:r>
              <a:rPr lang="en-US" sz="1400" dirty="0"/>
              <a:t>, 2010.</a:t>
            </a:r>
            <a:endParaRPr lang="en-US" sz="1300" dirty="0" smtClean="0">
              <a:latin typeface="Calibri" panose="020F0502020204030204"/>
              <a:ea typeface="+mn-lt"/>
              <a:cs typeface="+mn-lt"/>
            </a:endParaRPr>
          </a:p>
          <a:p>
            <a:pPr marL="228600" indent="-228600" algn="just">
              <a:buAutoNum type="arabicPeriod"/>
            </a:pPr>
            <a:r>
              <a:rPr lang="en-US" sz="1400" dirty="0" err="1"/>
              <a:t>Jayakanth</a:t>
            </a:r>
            <a:r>
              <a:rPr lang="en-US" sz="1400" dirty="0"/>
              <a:t>, J., </a:t>
            </a:r>
            <a:r>
              <a:rPr lang="en-US" sz="1400" dirty="0" err="1"/>
              <a:t>Byrappa</a:t>
            </a:r>
            <a:r>
              <a:rPr lang="en-US" sz="1400" dirty="0"/>
              <a:t>, A. T., &amp; </a:t>
            </a:r>
            <a:r>
              <a:rPr lang="en-US" sz="1400" dirty="0" err="1"/>
              <a:t>Minj</a:t>
            </a:r>
            <a:r>
              <a:rPr lang="en-US" sz="1400" dirty="0"/>
              <a:t>, F., “Migration of a Research Library's ICT-Based Services to a Cloud Platform,” </a:t>
            </a:r>
            <a:r>
              <a:rPr lang="en-US" sz="1400" i="1" dirty="0"/>
              <a:t>Information Technology and Libraries</a:t>
            </a:r>
            <a:r>
              <a:rPr lang="en-US" sz="1400" dirty="0"/>
              <a:t>, 2022.</a:t>
            </a:r>
            <a:endParaRPr lang="en-US" sz="1300" dirty="0">
              <a:latin typeface="Calibri" panose="020F0502020204030204"/>
              <a:ea typeface="+mn-lt"/>
              <a:cs typeface="+mn-lt"/>
            </a:endParaRPr>
          </a:p>
          <a:p>
            <a:pPr marL="228600" indent="-228600" algn="just">
              <a:buAutoNum type="arabicPeriod"/>
            </a:pPr>
            <a:r>
              <a:rPr lang="en-US" sz="1400" dirty="0" err="1"/>
              <a:t>Aldarthi</a:t>
            </a:r>
            <a:r>
              <a:rPr lang="en-US" sz="1400" dirty="0"/>
              <a:t>, R. R. et al., “A Systematic Review of Cloud Computing Applications in Library and Information Management and Service,” 2023.</a:t>
            </a:r>
            <a:endParaRPr lang="en-US" sz="1300" dirty="0">
              <a:latin typeface="Calibri" panose="020F0502020204030204"/>
              <a:ea typeface="+mn-lt"/>
              <a:cs typeface="+mn-lt"/>
            </a:endParaRPr>
          </a:p>
          <a:p>
            <a:pPr marL="228600" indent="-228600" algn="just">
              <a:buAutoNum type="arabicPeriod"/>
            </a:pPr>
            <a:r>
              <a:rPr lang="en-US" sz="1400" dirty="0" err="1"/>
              <a:t>Asim</a:t>
            </a:r>
            <a:r>
              <a:rPr lang="en-US" sz="1400" dirty="0"/>
              <a:t>, M., </a:t>
            </a:r>
            <a:r>
              <a:rPr lang="en-US" sz="1400" dirty="0" err="1"/>
              <a:t>Arif</a:t>
            </a:r>
            <a:r>
              <a:rPr lang="en-US" sz="1400" dirty="0"/>
              <a:t>, M., &amp; </a:t>
            </a:r>
            <a:r>
              <a:rPr lang="en-US" sz="1400" dirty="0" err="1"/>
              <a:t>Rafiq</a:t>
            </a:r>
            <a:r>
              <a:rPr lang="en-US" sz="1400" dirty="0"/>
              <a:t>, M., “Adoption and Uses of Cloud Computing in Academic Libraries: A Systematic Literature,” </a:t>
            </a:r>
            <a:r>
              <a:rPr lang="en-US" sz="1400" i="1" dirty="0"/>
              <a:t>Journal of Information Science</a:t>
            </a:r>
            <a:r>
              <a:rPr lang="en-US" sz="1400" dirty="0"/>
              <a:t>, 2024.</a:t>
            </a:r>
            <a:endParaRPr lang="en-US" sz="1300" dirty="0">
              <a:latin typeface="Calibri" panose="020F0502020204030204"/>
              <a:ea typeface="+mn-lt"/>
              <a:cs typeface="+mn-lt"/>
            </a:endParaRPr>
          </a:p>
          <a:p>
            <a:pPr marL="228600" indent="-228600" algn="just">
              <a:buAutoNum type="arabicPeriod"/>
            </a:pPr>
            <a:r>
              <a:rPr lang="en-US" sz="1400" dirty="0" err="1"/>
              <a:t>Yuvaraj</a:t>
            </a:r>
            <a:r>
              <a:rPr lang="en-US" sz="1400" dirty="0"/>
              <a:t>, M., “Determinants of Cloud Computing Applications Adoption in University Libraries,” 2014.</a:t>
            </a:r>
            <a:endParaRPr lang="en-US" sz="1300" dirty="0">
              <a:latin typeface="Calibri" panose="020F0502020204030204"/>
              <a:ea typeface="+mn-lt"/>
              <a:cs typeface="+mn-lt"/>
            </a:endParaRPr>
          </a:p>
          <a:p>
            <a:pPr marL="228600" indent="-228600" algn="just">
              <a:buAutoNum type="arabicPeriod"/>
            </a:pPr>
            <a:r>
              <a:rPr lang="en-US" sz="1400" dirty="0" err="1"/>
              <a:t>Yuvaraj</a:t>
            </a:r>
            <a:r>
              <a:rPr lang="en-US" sz="1400" dirty="0"/>
              <a:t>, M., “Problems and Prospects of Implementing Cloud Computing in University Libraries,” </a:t>
            </a:r>
            <a:r>
              <a:rPr lang="en-US" sz="1400" i="1" dirty="0"/>
              <a:t>Library Review</a:t>
            </a:r>
            <a:r>
              <a:rPr lang="en-US" sz="1400" dirty="0"/>
              <a:t>, 2015. </a:t>
            </a:r>
            <a:r>
              <a:rPr lang="en-US" sz="1300" dirty="0">
                <a:latin typeface="Calibri" panose="020F0502020204030204"/>
                <a:ea typeface="+mn-lt"/>
                <a:cs typeface="+mn-lt"/>
              </a:rPr>
              <a:t> </a:t>
            </a:r>
            <a:endParaRPr lang="en-IN" sz="1300" dirty="0">
              <a:latin typeface="Calibri" panose="020F0502020204030204"/>
              <a:ea typeface="+mn-lt"/>
              <a:cs typeface="+mn-lt"/>
            </a:endParaRPr>
          </a:p>
          <a:p>
            <a:pPr marL="228600" indent="-228600" algn="just">
              <a:buAutoNum type="arabicPeriod"/>
            </a:pPr>
            <a:r>
              <a:rPr lang="en-US" sz="1400" dirty="0"/>
              <a:t>Lee, S., “A Case Study on the Experience of Using a Cloud-Based Library Systems,” 2021.</a:t>
            </a:r>
            <a:endParaRPr lang="en-IN" sz="1300" dirty="0">
              <a:latin typeface="Calibri" panose="020F0502020204030204"/>
              <a:ea typeface="+mn-lt"/>
              <a:cs typeface="+mn-lt"/>
            </a:endParaRPr>
          </a:p>
          <a:p>
            <a:pPr marL="228600" indent="-228600" algn="just">
              <a:buAutoNum type="arabicPeriod"/>
            </a:pPr>
            <a:r>
              <a:rPr lang="en-US" sz="1400" dirty="0"/>
              <a:t>Ibrahim, H. M. et al., “Impact of </a:t>
            </a:r>
            <a:r>
              <a:rPr lang="en-US" sz="1400" dirty="0" err="1"/>
              <a:t>Organisational</a:t>
            </a:r>
            <a:r>
              <a:rPr lang="en-US" sz="1400" dirty="0"/>
              <a:t>, Environmental, Technological and Human Factors on Cloud Computing Adoption for University Libraries,” 2024.</a:t>
            </a:r>
            <a:endParaRPr lang="en-IN" sz="1300" dirty="0">
              <a:latin typeface="Calibri" panose="020F0502020204030204"/>
              <a:ea typeface="+mn-lt"/>
              <a:cs typeface="+mn-lt"/>
            </a:endParaRPr>
          </a:p>
          <a:p>
            <a:pPr marL="228600" indent="-228600" algn="just">
              <a:buAutoNum type="arabicPeriod"/>
            </a:pPr>
            <a:r>
              <a:rPr lang="en-US" sz="1400" dirty="0"/>
              <a:t>“Designing Cloud-Based Library Information Sharing for Resource Integration and Service Efficiency,” </a:t>
            </a:r>
            <a:r>
              <a:rPr lang="en-US" sz="1400" i="1" dirty="0"/>
              <a:t>Information Resources Management Journal</a:t>
            </a:r>
            <a:r>
              <a:rPr lang="en-US" sz="1400" dirty="0"/>
              <a:t>, 2025.</a:t>
            </a:r>
            <a:endParaRPr lang="en-IN" sz="1300" dirty="0">
              <a:latin typeface="Calibri" panose="020F0502020204030204"/>
              <a:cs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692531"/>
            <a:ext cx="7290054" cy="1499616"/>
          </a:xfrm>
        </p:spPr>
        <p:txBody>
          <a:bodyPr/>
          <a:lstStyle/>
          <a:p>
            <a:r>
              <a:rPr lang="en-US" sz="3600" dirty="0">
                <a:latin typeface="Calibri" panose="020F0502020204030204"/>
                <a:ea typeface="+mj-lt"/>
                <a:cs typeface="Calibri" panose="020F0502020204030204"/>
              </a:rPr>
              <a:t>Web References</a:t>
            </a:r>
            <a:r>
              <a:rPr lang="en-US" dirty="0">
                <a:latin typeface="Calibri" panose="020F0502020204030204"/>
                <a:ea typeface="+mj-lt"/>
                <a:cs typeface="+mj-lt"/>
              </a:rPr>
              <a:t> </a:t>
            </a:r>
            <a:endParaRPr lang="en-US" dirty="0">
              <a:latin typeface="Calibri" panose="020F0502020204030204"/>
              <a:cs typeface="Calibri" panose="020F0502020204030204"/>
            </a:endParaRPr>
          </a:p>
        </p:txBody>
      </p:sp>
      <p:sp>
        <p:nvSpPr>
          <p:cNvPr id="3" name="Content Placeholder 2"/>
          <p:cNvSpPr>
            <a:spLocks noGrp="1"/>
          </p:cNvSpPr>
          <p:nvPr>
            <p:ph idx="1"/>
          </p:nvPr>
        </p:nvSpPr>
        <p:spPr/>
        <p:txBody>
          <a:bodyPr vert="horz" lIns="45720" tIns="45720" rIns="45720" bIns="45720" rtlCol="0" anchor="t">
            <a:normAutofit/>
          </a:bodyPr>
          <a:lstStyle/>
          <a:p>
            <a:r>
              <a:rPr lang="en-US" dirty="0">
                <a:latin typeface="Calibri" panose="020F0502020204030204"/>
                <a:ea typeface="+mn-lt"/>
                <a:cs typeface="+mn-lt"/>
              </a:rPr>
              <a:t>11.  </a:t>
            </a:r>
            <a:r>
              <a:rPr lang="en-US" dirty="0">
                <a:latin typeface="Calibri" panose="020F0502020204030204"/>
                <a:ea typeface="+mn-lt"/>
                <a:cs typeface="+mn-lt"/>
              </a:rPr>
              <a:t>https://nodejs.org/</a:t>
            </a:r>
            <a:endParaRPr lang="en-US" dirty="0">
              <a:latin typeface="Calibri" panose="020F0502020204030204"/>
              <a:cs typeface="Calibri" panose="020F0502020204030204"/>
            </a:endParaRPr>
          </a:p>
          <a:p>
            <a:r>
              <a:rPr lang="en-US" dirty="0">
                <a:latin typeface="Calibri" panose="020F0502020204030204"/>
                <a:ea typeface="+mn-lt"/>
                <a:cs typeface="+mn-lt"/>
              </a:rPr>
              <a:t>12.  </a:t>
            </a:r>
            <a:r>
              <a:rPr lang="en-US" dirty="0">
                <a:latin typeface="Calibri" panose="020F0502020204030204"/>
                <a:ea typeface="+mn-lt"/>
                <a:cs typeface="+mn-lt"/>
              </a:rPr>
              <a:t>https://www.mongodb.com/docs/</a:t>
            </a:r>
            <a:endParaRPr lang="en-US" dirty="0">
              <a:latin typeface="Calibri" panose="020F0502020204030204"/>
              <a:cs typeface="Calibri" panose="020F0502020204030204"/>
            </a:endParaRPr>
          </a:p>
          <a:p>
            <a:r>
              <a:rPr lang="en-US" dirty="0">
                <a:latin typeface="Calibri" panose="020F0502020204030204"/>
                <a:ea typeface="+mn-lt"/>
                <a:cs typeface="+mn-lt"/>
              </a:rPr>
              <a:t>13.  </a:t>
            </a:r>
            <a:r>
              <a:rPr lang="en-US" dirty="0">
                <a:latin typeface="Calibri" panose="020F0502020204030204"/>
                <a:ea typeface="+mn-lt"/>
                <a:cs typeface="+mn-lt"/>
              </a:rPr>
              <a:t>https://aws.amazon.com/s3/</a:t>
            </a:r>
            <a:endParaRPr lang="en-US" dirty="0">
              <a:latin typeface="Calibri" panose="020F0502020204030204"/>
              <a:cs typeface="Calibri" panose="020F0502020204030204"/>
            </a:endParaRPr>
          </a:p>
          <a:p>
            <a:r>
              <a:rPr lang="en-US" dirty="0">
                <a:latin typeface="Calibri" panose="020F0502020204030204"/>
                <a:ea typeface="+mn-lt"/>
                <a:cs typeface="+mn-lt"/>
              </a:rPr>
              <a:t>14.  </a:t>
            </a:r>
            <a:r>
              <a:rPr lang="en-US" dirty="0">
                <a:latin typeface="Calibri" panose="020F0502020204030204"/>
                <a:ea typeface="+mn-lt"/>
                <a:cs typeface="+mn-lt"/>
              </a:rPr>
              <a:t>https://docs.aws.amazon.com/sdk-for-javascript/</a:t>
            </a:r>
            <a:endParaRPr lang="en-US" dirty="0">
              <a:latin typeface="Calibri" panose="020F0502020204030204"/>
              <a:cs typeface="Calibri" panose="020F0502020204030204"/>
            </a:endParaRPr>
          </a:p>
          <a:p>
            <a:r>
              <a:rPr lang="en-US" dirty="0">
                <a:latin typeface="Calibri" panose="020F0502020204030204"/>
                <a:ea typeface="+mn-lt"/>
                <a:cs typeface="+mn-lt"/>
              </a:rPr>
              <a:t>15.  </a:t>
            </a:r>
            <a:r>
              <a:rPr lang="en-US" dirty="0">
                <a:latin typeface="Calibri" panose="020F0502020204030204"/>
                <a:ea typeface="+mn-lt"/>
                <a:cs typeface="+mn-lt"/>
              </a:rPr>
              <a:t>https://firebase.google.com/docs</a:t>
            </a:r>
            <a:endParaRPr lang="en-US" dirty="0">
              <a:latin typeface="Calibri" panose="020F0502020204030204"/>
              <a:cs typeface="Calibri" panose="020F0502020204030204"/>
            </a:endParaRPr>
          </a:p>
          <a:p>
            <a:r>
              <a:rPr lang="en-US" dirty="0">
                <a:latin typeface="Calibri" panose="020F0502020204030204"/>
                <a:ea typeface="+mn-lt"/>
                <a:cs typeface="+mn-lt"/>
              </a:rPr>
              <a:t>16.  </a:t>
            </a:r>
            <a:r>
              <a:rPr lang="en-US" dirty="0">
                <a:latin typeface="Calibri" panose="020F0502020204030204"/>
                <a:ea typeface="+mn-lt"/>
                <a:cs typeface="+mn-lt"/>
              </a:rPr>
              <a:t>https://developer.mozilla.org/</a:t>
            </a:r>
            <a:endParaRPr lang="en-US" dirty="0">
              <a:latin typeface="Calibri" panose="020F0502020204030204"/>
              <a:cs typeface="Calibri" panose="020F0502020204030204"/>
            </a:endParaRPr>
          </a:p>
          <a:p>
            <a:r>
              <a:rPr lang="en-US" dirty="0">
                <a:latin typeface="Calibri" panose="020F0502020204030204"/>
                <a:ea typeface="+mn-lt"/>
                <a:cs typeface="+mn-lt"/>
              </a:rPr>
              <a:t>17. </a:t>
            </a:r>
            <a:r>
              <a:rPr lang="en-US" dirty="0">
                <a:latin typeface="Calibri" panose="020F0502020204030204"/>
                <a:ea typeface="+mn-lt"/>
                <a:cs typeface="+mn-lt"/>
              </a:rPr>
              <a:t>https://www.w3schools.com/</a:t>
            </a:r>
            <a:endParaRPr lang="en-US" dirty="0">
              <a:latin typeface="Calibri" panose="020F0502020204030204"/>
              <a:ea typeface="+mn-lt"/>
              <a:cs typeface="Calibri" panose="020F0502020204030204"/>
            </a:endParaRPr>
          </a:p>
          <a:p>
            <a:r>
              <a:rPr lang="en-US" dirty="0">
                <a:latin typeface="Calibri" panose="020F0502020204030204"/>
                <a:cs typeface="Calibri" panose="020F0502020204030204"/>
              </a:rPr>
              <a:t>18. </a:t>
            </a:r>
            <a:r>
              <a:rPr lang="en-US" dirty="0">
                <a:latin typeface="Calibri" panose="020F0502020204030204"/>
                <a:cs typeface="Calibri" panose="020F0502020204030204"/>
              </a:rPr>
              <a:t>https://www.geeksforgeeks.org/</a:t>
            </a:r>
            <a:endParaRPr lang="en-US" dirty="0">
              <a:solidFill>
                <a:srgbClr val="93A303"/>
              </a:solidFill>
              <a:latin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7664" y="1052736"/>
            <a:ext cx="6313512" cy="4585712"/>
          </a:xfrm>
        </p:spPr>
        <p:txBody>
          <a:bodyPr anchor="ctr"/>
          <a:lstStyle/>
          <a:p>
            <a:pPr algn="ctr">
              <a:buNone/>
            </a:pPr>
            <a:r>
              <a:rPr lang="en-US" sz="9600" b="1" dirty="0">
                <a:solidFill>
                  <a:schemeClr val="accent2">
                    <a:lumMod val="50000"/>
                  </a:schemeClr>
                </a:solidFill>
                <a:latin typeface="Arial" panose="020B0604020202020204" pitchFamily="34" charset="0"/>
                <a:cs typeface="Arial" panose="020B0604020202020204" pitchFamily="34" charset="0"/>
              </a:rPr>
              <a:t>Thank you</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15</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40"/>
</p:tagLst>
</file>

<file path=ppt/tags/tag4.xml><?xml version="1.0" encoding="utf-8"?>
<p:tagLst xmlns:a="http://schemas.openxmlformats.org/drawingml/2006/main" xmlns:r="http://schemas.openxmlformats.org/officeDocument/2006/relationships" xmlns:p="http://schemas.openxmlformats.org/presentationml/2006/main">
  <p:tag name="AS_UNIQUEID" val="41"/>
</p:tagLst>
</file>

<file path=ppt/tags/tag5.xml><?xml version="1.0" encoding="utf-8"?>
<p:tagLst xmlns:a="http://schemas.openxmlformats.org/drawingml/2006/main" xmlns:r="http://schemas.openxmlformats.org/officeDocument/2006/relationships" xmlns:p="http://schemas.openxmlformats.org/presentationml/2006/main">
  <p:tag name="AS_UNIQUEID" val="42"/>
</p:tagLst>
</file>

<file path=ppt/tags/tag6.xml><?xml version="1.0" encoding="utf-8"?>
<p:tagLst xmlns:a="http://schemas.openxmlformats.org/drawingml/2006/main" xmlns:r="http://schemas.openxmlformats.org/officeDocument/2006/relationships" xmlns:p="http://schemas.openxmlformats.org/presentationml/2006/main">
  <p:tag name="AS_UNIQUEID" val="4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210</TotalTime>
  <Words>1038</Words>
  <Application>Microsoft Office PowerPoint</Application>
  <PresentationFormat>On-screen Show (4:3)</PresentationFormat>
  <Paragraphs>181</Paragraphs>
  <Slides>15</Slides>
  <Notes>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Integral</vt:lpstr>
      <vt:lpstr>PowerPoint Presentation</vt:lpstr>
      <vt:lpstr>OUTLINE</vt:lpstr>
      <vt:lpstr>Introduction</vt:lpstr>
      <vt:lpstr>PowerPoint Presentation</vt:lpstr>
      <vt:lpstr>Literature Review </vt:lpstr>
      <vt:lpstr>Research Gap</vt:lpstr>
      <vt:lpstr>Problem StatemenT</vt:lpstr>
      <vt:lpstr>SYSTEM IMPLEMENTATION</vt:lpstr>
      <vt:lpstr>Data Set Description[5]</vt:lpstr>
      <vt:lpstr>Flow Chart</vt:lpstr>
      <vt:lpstr>Implementation with Results </vt:lpstr>
      <vt:lpstr>PowerPoint Presentation</vt:lpstr>
      <vt:lpstr>References</vt:lpstr>
      <vt:lpstr>Web References </vt:lpstr>
      <vt:lpstr>PowerPoint Presentation</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BIOMETRIC SECURITY SYSTEMS</dc:title>
  <dc:creator>charmy</dc:creator>
  <cp:lastModifiedBy>DELL 5501</cp:lastModifiedBy>
  <cp:revision>736</cp:revision>
  <dcterms:created xsi:type="dcterms:W3CDTF">2005-10-02T14:03:00Z</dcterms:created>
  <dcterms:modified xsi:type="dcterms:W3CDTF">2026-09-02T12:27:05Z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1033-11.2.0.11486</vt:lpwstr>
  </property>
  <property fmtid="{D5CDD505-2E9C-101B-9397-08002B2CF9AE}" pid="3" name="ICV">
    <vt:lpwstr>C10C3B732A5D4AB48367BEBFD5F0212D</vt:lpwstr>
  </property>
</Properties>
</file>